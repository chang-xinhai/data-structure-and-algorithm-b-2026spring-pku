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24"/>
  </p:handoutMasterIdLst>
  <p:sldIdLst>
    <p:sldId id="338" r:id="rId3"/>
    <p:sldId id="362" r:id="rId5"/>
    <p:sldId id="370" r:id="rId6"/>
    <p:sldId id="385" r:id="rId7"/>
    <p:sldId id="421" r:id="rId8"/>
    <p:sldId id="422" r:id="rId9"/>
    <p:sldId id="424" r:id="rId10"/>
    <p:sldId id="432" r:id="rId11"/>
    <p:sldId id="423" r:id="rId12"/>
    <p:sldId id="425" r:id="rId13"/>
    <p:sldId id="433" r:id="rId14"/>
    <p:sldId id="431" r:id="rId15"/>
    <p:sldId id="426" r:id="rId16"/>
    <p:sldId id="427" r:id="rId17"/>
    <p:sldId id="428" r:id="rId18"/>
    <p:sldId id="429" r:id="rId19"/>
    <p:sldId id="434" r:id="rId20"/>
    <p:sldId id="430" r:id="rId21"/>
    <p:sldId id="371" r:id="rId22"/>
    <p:sldId id="354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975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" initials="a" lastIdx="1" clrIdx="0"/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F7F7"/>
    <a:srgbClr val="878783"/>
    <a:srgbClr val="E0E0E0"/>
    <a:srgbClr val="FDFDFD"/>
    <a:srgbClr val="1C75BC"/>
    <a:srgbClr val="BCBEC0"/>
    <a:srgbClr val="1F6108"/>
    <a:srgbClr val="26700A"/>
    <a:srgbClr val="1A5A08"/>
    <a:srgbClr val="5B5B5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694" autoAdjust="0"/>
    <p:restoredTop sz="94660"/>
  </p:normalViewPr>
  <p:slideViewPr>
    <p:cSldViewPr snapToGrid="0" showGuides="1">
      <p:cViewPr>
        <p:scale>
          <a:sx n="60" d="100"/>
          <a:sy n="60" d="100"/>
        </p:scale>
        <p:origin x="330" y="384"/>
      </p:cViewPr>
      <p:guideLst>
        <p:guide orient="horz" pos="975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-7908"/>
    </p:cViewPr>
  </p:sorterViewPr>
  <p:notesViewPr>
    <p:cSldViewPr snapToGrid="0">
      <p:cViewPr varScale="1">
        <p:scale>
          <a:sx n="83" d="100"/>
          <a:sy n="83" d="100"/>
        </p:scale>
        <p:origin x="3828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8" Type="http://schemas.openxmlformats.org/officeDocument/2006/relationships/commentAuthors" Target="commentAuthors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handoutMaster" Target="handoutMasters/handoutMaster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5CF35C-D8B4-40CD-AC4B-EB87F13805C3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DD243B-FFB1-446E-9114-40ACCD7DCCD8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7604B2-0104-47E2-A454-F16A8221FE53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549D33-5D85-48A9-B874-2732B52B07D8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BE02D-20C0-F840-AFAC-BEA99C74FDC2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BE02D-20C0-F840-AFAC-BEA99C74FDC2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BE02D-20C0-F840-AFAC-BEA99C74FDC2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1-01"/>
          <p:cNvPicPr>
            <a:picLocks noChangeAspect="1"/>
          </p:cNvPicPr>
          <p:nvPr userDrawn="1"/>
        </p:nvPicPr>
        <p:blipFill>
          <a:blip r:embed="rId2"/>
          <a:srcRect t="15612"/>
          <a:stretch>
            <a:fillRect/>
          </a:stretch>
        </p:blipFill>
        <p:spPr>
          <a:xfrm>
            <a:off x="-9525" y="-15875"/>
            <a:ext cx="12197080" cy="68649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ex"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C:\Users\Administrator\Desktop\2-01.png2-01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>
          <a:xfrm>
            <a:off x="-6985" y="-15875"/>
            <a:ext cx="10292080" cy="68649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C:\Users\Administrator\Desktop\2-01.png2-01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>
          <a:xfrm flipH="1">
            <a:off x="1906905" y="-15875"/>
            <a:ext cx="10292080" cy="68649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s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C:\Users\Administrator\Desktop\2-01.png2-01"/>
          <p:cNvPicPr>
            <a:picLocks noChangeAspect="1"/>
          </p:cNvPicPr>
          <p:nvPr userDrawn="1"/>
        </p:nvPicPr>
        <p:blipFill>
          <a:blip r:embed="rId2"/>
          <a:srcRect l="3118"/>
          <a:stretch>
            <a:fillRect/>
          </a:stretch>
        </p:blipFill>
        <p:spPr>
          <a:xfrm flipH="1">
            <a:off x="5913755" y="-1905"/>
            <a:ext cx="6274435" cy="4319905"/>
          </a:xfrm>
          <a:prstGeom prst="rect">
            <a:avLst/>
          </a:prstGeom>
        </p:spPr>
      </p:pic>
      <p:pic>
        <p:nvPicPr>
          <p:cNvPr id="5" name="图片 4" descr="C:\Users\Administrator\Desktop\2-01.png2-01"/>
          <p:cNvPicPr>
            <a:picLocks noChangeAspect="1"/>
          </p:cNvPicPr>
          <p:nvPr userDrawn="1"/>
        </p:nvPicPr>
        <p:blipFill>
          <a:blip r:embed="rId2"/>
          <a:srcRect l="3118"/>
          <a:stretch>
            <a:fillRect/>
          </a:stretch>
        </p:blipFill>
        <p:spPr>
          <a:xfrm flipV="1">
            <a:off x="-5080" y="2533015"/>
            <a:ext cx="6274435" cy="431990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C:\Users\Administrator\Desktop\2-01.png2-01"/>
          <p:cNvPicPr>
            <a:picLocks noChangeAspect="1"/>
          </p:cNvPicPr>
          <p:nvPr userDrawn="1"/>
        </p:nvPicPr>
        <p:blipFill>
          <a:blip r:embed="rId2"/>
          <a:srcRect l="3118"/>
          <a:stretch>
            <a:fillRect/>
          </a:stretch>
        </p:blipFill>
        <p:spPr>
          <a:xfrm>
            <a:off x="-5080" y="-635"/>
            <a:ext cx="6274435" cy="4319905"/>
          </a:xfrm>
          <a:prstGeom prst="rect">
            <a:avLst/>
          </a:prstGeom>
        </p:spPr>
      </p:pic>
      <p:pic>
        <p:nvPicPr>
          <p:cNvPr id="5" name="图片 4" descr="C:\Users\Administrator\Desktop\2-01.png2-01"/>
          <p:cNvPicPr>
            <a:picLocks noChangeAspect="1"/>
          </p:cNvPicPr>
          <p:nvPr userDrawn="1"/>
        </p:nvPicPr>
        <p:blipFill>
          <a:blip r:embed="rId2"/>
          <a:srcRect l="3118"/>
          <a:stretch>
            <a:fillRect/>
          </a:stretch>
        </p:blipFill>
        <p:spPr>
          <a:xfrm flipH="1" flipV="1">
            <a:off x="5908040" y="2533650"/>
            <a:ext cx="6274435" cy="431990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8.xml"/><Relationship Id="rId1" Type="http://schemas.openxmlformats.org/officeDocument/2006/relationships/hyperlink" Target="https://chang-xinhai.github.io/Data-Structure-and-Algorithm-B-2026Spring-PKU/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8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image" Target="../media/image6.png"/><Relationship Id="rId1" Type="http://schemas.openxmlformats.org/officeDocument/2006/relationships/tags" Target="../tags/tag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image" Target="../media/image7.png"/><Relationship Id="rId1" Type="http://schemas.openxmlformats.org/officeDocument/2006/relationships/tags" Target="../tags/tag3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8.xml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tags" Target="../tags/tag4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8.xml"/><Relationship Id="rId8" Type="http://schemas.openxmlformats.org/officeDocument/2006/relationships/image" Target="../media/image16.png"/><Relationship Id="rId7" Type="http://schemas.openxmlformats.org/officeDocument/2006/relationships/image" Target="../media/image15.png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tags" Target="../tags/tag5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8.xml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tags" Target="../tags/tag6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8.xml"/><Relationship Id="rId4" Type="http://schemas.openxmlformats.org/officeDocument/2006/relationships/image" Target="../media/image21.png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tags" Target="../tags/tag7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8.xml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tags" Target="../tags/tag8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8.xml"/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tags" Target="../tags/tag9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8.xml"/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tags" Target="../tags/tag10.xml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8.xml"/><Relationship Id="rId4" Type="http://schemas.openxmlformats.org/officeDocument/2006/relationships/image" Target="../media/image28.png"/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tags" Target="../tags/tag11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8.xml"/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tags" Target="../tags/tag12.xml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8.xml"/><Relationship Id="rId4" Type="http://schemas.openxmlformats.org/officeDocument/2006/relationships/image" Target="../media/image33.png"/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tags" Target="../tags/tag13.xml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8.xml"/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tags" Target="../tags/tag14.xml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8.xml"/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tags" Target="../tags/tag1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hyperlink" Target="https://www.luogu.com.cn/training/992193#problems&#13;" TargetMode="External"/><Relationship Id="rId1" Type="http://schemas.openxmlformats.org/officeDocument/2006/relationships/image" Target="../media/image3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8.xml"/><Relationship Id="rId1" Type="http://schemas.openxmlformats.org/officeDocument/2006/relationships/hyperlink" Target="https://www.hello-algo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-352107" y="1497217"/>
            <a:ext cx="12896215" cy="19221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900" b="1" spc="600" dirty="0" smtClean="0">
                <a:solidFill>
                  <a:schemeClr val="bg1">
                    <a:lumMod val="95000"/>
                  </a:schemeClr>
                </a:solidFill>
                <a:latin typeface="Arial Black" panose="020B0A04020102020204" charset="0"/>
                <a:ea typeface="方正仿宋_GB2312" panose="02000000000000000000" charset="-122"/>
                <a:cs typeface="Arial Black" panose="020B0A04020102020204" charset="0"/>
              </a:rPr>
              <a:t>PROGRAM</a:t>
            </a:r>
            <a:endParaRPr lang="en-US" sz="11900" b="1" spc="600" dirty="0" smtClean="0">
              <a:solidFill>
                <a:schemeClr val="bg1">
                  <a:lumMod val="95000"/>
                </a:schemeClr>
              </a:solidFill>
              <a:latin typeface="Arial Black" panose="020B0A04020102020204" charset="0"/>
              <a:ea typeface="方正仿宋_GB2312" panose="02000000000000000000" charset="-122"/>
              <a:cs typeface="Arial Black" panose="020B0A0402010202020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985010" y="2306955"/>
            <a:ext cx="8232140" cy="1930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1950" b="1" spc="600" dirty="0" smtClean="0">
                <a:solidFill>
                  <a:schemeClr val="tx1"/>
                </a:solidFill>
                <a:latin typeface="方正明尚简体" panose="02000000000000000000" charset="-122"/>
                <a:ea typeface="方正明尚简体" panose="02000000000000000000" charset="-122"/>
                <a:cs typeface="Toots Regular" panose="02010600010101010101" charset="-122"/>
                <a:sym typeface="方正明尚简体" panose="02000000000000000000" charset="-122"/>
              </a:rPr>
              <a:t>DSA</a:t>
            </a:r>
            <a:r>
              <a:rPr lang="zh-CN" altLang="en-US" sz="11950" b="1" spc="600" dirty="0" smtClean="0">
                <a:solidFill>
                  <a:schemeClr val="tx1"/>
                </a:solidFill>
                <a:latin typeface="方正明尚简体" panose="02000000000000000000" charset="-122"/>
                <a:ea typeface="方正明尚简体" panose="02000000000000000000" charset="-122"/>
                <a:cs typeface="Toots Regular" panose="02010600010101010101" charset="-122"/>
                <a:sym typeface="方正明尚简体" panose="02000000000000000000" charset="-122"/>
              </a:rPr>
              <a:t>小班课</a:t>
            </a:r>
            <a:endParaRPr lang="zh-CN" altLang="en-US" sz="11950" b="1" spc="600" dirty="0" smtClean="0">
              <a:solidFill>
                <a:schemeClr val="tx1"/>
              </a:solidFill>
              <a:latin typeface="方正明尚简体" panose="02000000000000000000" charset="-122"/>
              <a:ea typeface="方正明尚简体" panose="02000000000000000000" charset="-122"/>
              <a:cs typeface="Toots Regular" panose="02010600010101010101" charset="-122"/>
              <a:sym typeface="方正明尚简体" panose="02000000000000000000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606626" y="4900941"/>
            <a:ext cx="4988364" cy="75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4400" baseline="-25000" dirty="0" smtClean="0">
                <a:latin typeface="华文中宋" panose="02010600040101010101" charset="-122"/>
                <a:ea typeface="华文中宋" panose="02010600040101010101" charset="-122"/>
                <a:cs typeface="+mj-lt"/>
              </a:rPr>
              <a:t>常欣海</a:t>
            </a:r>
            <a:endParaRPr lang="zh-CN" altLang="en-US" sz="4400" baseline="-25000" dirty="0" smtClean="0">
              <a:latin typeface="华文中宋" panose="02010600040101010101" charset="-122"/>
              <a:ea typeface="华文中宋" panose="02010600040101010101" charset="-122"/>
              <a:cs typeface="+mj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048000" y="4237355"/>
            <a:ext cx="60960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zh-CN" sz="36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  <a:hlinkClick r:id="rId1" action="ppaction://hlinkfile"/>
              </a:rPr>
              <a:t>DSA </a:t>
            </a:r>
            <a:r>
              <a:rPr lang="zh-CN" altLang="en-US" sz="36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  <a:hlinkClick r:id="rId1" action="ppaction://hlinkfile"/>
              </a:rPr>
              <a:t>课程网站</a:t>
            </a:r>
            <a:endParaRPr lang="zh-CN" altLang="en-US" sz="3600"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  <a:hlinkClick r:id="rId1" action="ppaction://hlinkfile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组合 1"/>
          <p:cNvGrpSpPr/>
          <p:nvPr/>
        </p:nvGrpSpPr>
        <p:grpSpPr>
          <a:xfrm>
            <a:off x="2035810" y="582930"/>
            <a:ext cx="8120380" cy="1326515"/>
            <a:chOff x="3206" y="98"/>
            <a:chExt cx="12788" cy="2089"/>
          </a:xfrm>
        </p:grpSpPr>
        <p:sp>
          <p:nvSpPr>
            <p:cNvPr id="3" name="TextBox 8"/>
            <p:cNvSpPr txBox="1"/>
            <p:nvPr/>
          </p:nvSpPr>
          <p:spPr>
            <a:xfrm>
              <a:off x="3206" y="98"/>
              <a:ext cx="12788" cy="1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6000" b="1" spc="600" dirty="0" smtClean="0">
                  <a:solidFill>
                    <a:schemeClr val="bg1">
                      <a:lumMod val="95000"/>
                    </a:schemeClr>
                  </a:solidFill>
                  <a:latin typeface="Arial Black" panose="020B0A04020102020204" charset="0"/>
                  <a:ea typeface="方正仿宋_GB2312" panose="02000000000000000000" charset="-122"/>
                  <a:cs typeface="Arial Black" panose="020B0A04020102020204" charset="0"/>
                  <a:sym typeface="+mn-ea"/>
                </a:rPr>
                <a:t>PROGRAM</a:t>
              </a:r>
              <a:endParaRPr lang="en-US" sz="6000" b="1" spc="600" dirty="0" smtClean="0">
                <a:solidFill>
                  <a:schemeClr val="bg1">
                    <a:lumMod val="95000"/>
                  </a:schemeClr>
                </a:solidFill>
                <a:latin typeface="方正仿宋_GB2312" panose="02000000000000000000" charset="-122"/>
                <a:ea typeface="方正仿宋_GB2312" panose="02000000000000000000" charset="-122"/>
                <a:cs typeface="Toots Regular" panose="02010600010101010101" charset="-122"/>
              </a:endParaRPr>
            </a:p>
          </p:txBody>
        </p:sp>
        <p:sp>
          <p:nvSpPr>
            <p:cNvPr id="24" name="TextBox 9"/>
            <p:cNvSpPr txBox="1"/>
            <p:nvPr/>
          </p:nvSpPr>
          <p:spPr>
            <a:xfrm>
              <a:off x="4143" y="653"/>
              <a:ext cx="10932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4800" b="1" spc="600" dirty="0" smtClean="0">
                  <a:solidFill>
                    <a:schemeClr val="tx1"/>
                  </a:solidFill>
                  <a:latin typeface="方正明尚简体" panose="02000000000000000000" charset="-122"/>
                  <a:ea typeface="方正明尚简体" panose="02000000000000000000" charset="-122"/>
                  <a:cs typeface="Toots Regular" panose="02010600010101010101" charset="-122"/>
                  <a:sym typeface="方正明尚简体" panose="02000000000000000000" charset="-122"/>
                </a:rPr>
                <a:t>教学</a:t>
              </a:r>
              <a:r>
                <a:rPr lang="zh-CN" altLang="en-US" sz="4800" b="1" spc="600" dirty="0" smtClean="0">
                  <a:solidFill>
                    <a:schemeClr val="tx1"/>
                  </a:solidFill>
                  <a:latin typeface="方正明尚简体" panose="02000000000000000000" charset="-122"/>
                  <a:ea typeface="方正明尚简体" panose="02000000000000000000" charset="-122"/>
                  <a:cs typeface="Toots Regular" panose="02010600010101010101" charset="-122"/>
                  <a:sym typeface="方正明尚简体" panose="02000000000000000000" charset="-122"/>
                </a:rPr>
                <a:t>计划</a:t>
              </a:r>
              <a:endParaRPr lang="zh-CN" altLang="en-US" sz="4800" b="1" spc="600" dirty="0" smtClean="0">
                <a:solidFill>
                  <a:schemeClr val="tx1"/>
                </a:solidFill>
                <a:latin typeface="方正明尚简体" panose="02000000000000000000" charset="-122"/>
                <a:ea typeface="方正明尚简体" panose="02000000000000000000" charset="-122"/>
                <a:cs typeface="Toots Regular" panose="02010600010101010101" charset="-122"/>
                <a:sym typeface="方正明尚简体" panose="02000000000000000000" charset="-122"/>
              </a:endParaRPr>
            </a:p>
          </p:txBody>
        </p:sp>
        <p:sp>
          <p:nvSpPr>
            <p:cNvPr id="25" name="TextBox 12"/>
            <p:cNvSpPr txBox="1"/>
            <p:nvPr/>
          </p:nvSpPr>
          <p:spPr>
            <a:xfrm>
              <a:off x="5681" y="1618"/>
              <a:ext cx="7856" cy="5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lnSpc>
                  <a:spcPct val="150000"/>
                </a:lnSpc>
              </a:pPr>
              <a:r>
                <a:rPr lang="en-US" baseline="-25000" dirty="0" smtClean="0">
                  <a:latin typeface="Futura" panose="020B0602020204020303" charset="0"/>
                  <a:ea typeface="Futura" panose="020B0602020204020303" charset="0"/>
                  <a:cs typeface="+mj-lt"/>
                </a:rPr>
                <a:t>Course Syllabus</a:t>
              </a:r>
              <a:endParaRPr lang="en-US" baseline="-25000" dirty="0" smtClean="0">
                <a:latin typeface="Futura" panose="020B0602020204020303" charset="0"/>
                <a:ea typeface="Futura" panose="020B0602020204020303" charset="0"/>
                <a:cs typeface="+mj-lt"/>
              </a:endParaRPr>
            </a:p>
          </p:txBody>
        </p:sp>
      </p:grp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2595" y="1909445"/>
            <a:ext cx="8954135" cy="47326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-352107" y="1018427"/>
            <a:ext cx="12896215" cy="19221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900" b="1" spc="600" dirty="0" smtClean="0">
                <a:solidFill>
                  <a:schemeClr val="bg1">
                    <a:lumMod val="95000"/>
                  </a:schemeClr>
                </a:solidFill>
                <a:latin typeface="Arial Black" panose="020B0A04020102020204" charset="0"/>
                <a:ea typeface="方正仿宋_GB2312" panose="02000000000000000000" charset="-122"/>
                <a:cs typeface="Arial Black" panose="020B0A04020102020204" charset="0"/>
              </a:rPr>
              <a:t>PROGRAM</a:t>
            </a:r>
            <a:endParaRPr lang="en-US" sz="11900" b="1" spc="600" dirty="0" smtClean="0">
              <a:solidFill>
                <a:schemeClr val="bg1">
                  <a:lumMod val="95000"/>
                </a:schemeClr>
              </a:solidFill>
              <a:latin typeface="Arial Black" panose="020B0A04020102020204" charset="0"/>
              <a:ea typeface="方正仿宋_GB2312" panose="02000000000000000000" charset="-122"/>
              <a:cs typeface="Arial Black" panose="020B0A0402010202020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98220" y="1871345"/>
            <a:ext cx="10617200" cy="26149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200" b="1" spc="600" dirty="0" smtClean="0">
                <a:solidFill>
                  <a:schemeClr val="tx1"/>
                </a:solidFill>
                <a:latin typeface="方正明尚简体" panose="02000000000000000000" charset="-122"/>
                <a:ea typeface="方正明尚简体" panose="02000000000000000000" charset="-122"/>
                <a:cs typeface="Toots Regular" panose="02010600010101010101" charset="-122"/>
                <a:sym typeface="方正明尚简体" panose="02000000000000000000" charset="-122"/>
              </a:rPr>
              <a:t>L2 </a:t>
            </a:r>
            <a:r>
              <a:rPr lang="zh-CN" altLang="en-US" sz="8200" b="1" spc="600" dirty="0" smtClean="0">
                <a:solidFill>
                  <a:schemeClr val="tx1"/>
                </a:solidFill>
                <a:latin typeface="方正明尚简体" panose="02000000000000000000" charset="-122"/>
                <a:ea typeface="方正明尚简体" panose="02000000000000000000" charset="-122"/>
                <a:cs typeface="Toots Regular" panose="02010600010101010101" charset="-122"/>
                <a:sym typeface="方正明尚简体" panose="02000000000000000000" charset="-122"/>
              </a:rPr>
              <a:t>链表</a:t>
            </a:r>
            <a:r>
              <a:rPr lang="en-US" altLang="zh-CN" sz="8200" b="1" spc="600" dirty="0" smtClean="0">
                <a:solidFill>
                  <a:schemeClr val="tx1"/>
                </a:solidFill>
                <a:latin typeface="方正明尚简体" panose="02000000000000000000" charset="-122"/>
                <a:ea typeface="方正明尚简体" panose="02000000000000000000" charset="-122"/>
                <a:cs typeface="Toots Regular" panose="02010600010101010101" charset="-122"/>
                <a:sym typeface="方正明尚简体" panose="02000000000000000000" charset="-122"/>
              </a:rPr>
              <a:t>、</a:t>
            </a:r>
            <a:endParaRPr lang="en-US" altLang="zh-CN" sz="8200" b="1" spc="600" dirty="0" smtClean="0">
              <a:solidFill>
                <a:schemeClr val="tx1"/>
              </a:solidFill>
              <a:latin typeface="方正明尚简体" panose="02000000000000000000" charset="-122"/>
              <a:ea typeface="方正明尚简体" panose="02000000000000000000" charset="-122"/>
              <a:cs typeface="Toots Regular" panose="02010600010101010101" charset="-122"/>
              <a:sym typeface="方正明尚简体" panose="02000000000000000000" charset="-122"/>
            </a:endParaRPr>
          </a:p>
          <a:p>
            <a:pPr algn="ctr"/>
            <a:r>
              <a:rPr lang="zh-CN" altLang="en-US" sz="8200" b="1" spc="600" dirty="0" smtClean="0">
                <a:solidFill>
                  <a:schemeClr val="tx1"/>
                </a:solidFill>
                <a:latin typeface="方正明尚简体" panose="02000000000000000000" charset="-122"/>
                <a:ea typeface="方正明尚简体" panose="02000000000000000000" charset="-122"/>
                <a:cs typeface="Toots Regular" panose="02010600010101010101" charset="-122"/>
                <a:sym typeface="方正明尚简体" panose="02000000000000000000" charset="-122"/>
              </a:rPr>
              <a:t>串与线性结构</a:t>
            </a:r>
            <a:r>
              <a:rPr lang="zh-CN" altLang="en-US" sz="8200" b="1" spc="600" dirty="0" smtClean="0">
                <a:solidFill>
                  <a:schemeClr val="tx1"/>
                </a:solidFill>
                <a:latin typeface="方正明尚简体" panose="02000000000000000000" charset="-122"/>
                <a:ea typeface="方正明尚简体" panose="02000000000000000000" charset="-122"/>
                <a:cs typeface="Toots Regular" panose="02010600010101010101" charset="-122"/>
                <a:sym typeface="方正明尚简体" panose="02000000000000000000" charset="-122"/>
              </a:rPr>
              <a:t>应用</a:t>
            </a:r>
            <a:endParaRPr lang="zh-CN" altLang="en-US" sz="8200" b="1" spc="600" dirty="0" smtClean="0">
              <a:solidFill>
                <a:schemeClr val="tx1"/>
              </a:solidFill>
              <a:latin typeface="方正明尚简体" panose="02000000000000000000" charset="-122"/>
              <a:ea typeface="方正明尚简体" panose="02000000000000000000" charset="-122"/>
              <a:cs typeface="Toots Regular" panose="02010600010101010101" charset="-122"/>
              <a:sym typeface="方正明尚简体" panose="02000000000000000000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606626" y="4486286"/>
            <a:ext cx="4988364" cy="1191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4400" baseline="-25000" dirty="0" smtClean="0">
                <a:latin typeface="华文中宋" panose="02010600040101010101" charset="-122"/>
                <a:ea typeface="华文中宋" panose="02010600040101010101" charset="-122"/>
                <a:cs typeface="+mj-lt"/>
              </a:rPr>
              <a:t>常欣海</a:t>
            </a:r>
            <a:endParaRPr lang="zh-CN" altLang="en-US" sz="4400" baseline="-25000" dirty="0" smtClean="0">
              <a:latin typeface="华文中宋" panose="02010600040101010101" charset="-122"/>
              <a:ea typeface="华文中宋" panose="02010600040101010101" charset="-122"/>
              <a:cs typeface="+mj-lt"/>
            </a:endParaRPr>
          </a:p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4400" baseline="-25000" dirty="0" smtClean="0">
                <a:latin typeface="华文中宋" panose="02010600040101010101" charset="-122"/>
                <a:ea typeface="华文中宋" panose="02010600040101010101" charset="-122"/>
                <a:cs typeface="+mj-lt"/>
              </a:rPr>
              <a:t>2026.04.11</a:t>
            </a:r>
            <a:endParaRPr lang="en-US" altLang="zh-CN" sz="4400" baseline="-25000" dirty="0" smtClean="0">
              <a:latin typeface="华文中宋" panose="02010600040101010101" charset="-122"/>
              <a:ea typeface="华文中宋" panose="02010600040101010101" charset="-122"/>
              <a:cs typeface="+mj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TextBox 7"/>
          <p:cNvSpPr txBox="1"/>
          <p:nvPr>
            <p:custDataLst>
              <p:tags r:id="rId1"/>
            </p:custDataLst>
          </p:nvPr>
        </p:nvSpPr>
        <p:spPr>
          <a:xfrm>
            <a:off x="1263650" y="1449070"/>
            <a:ext cx="1224280" cy="460375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p>
            <a:pPr lvl="0" algn="l">
              <a:buClrTx/>
              <a:buSzTx/>
              <a:buFontTx/>
            </a:pPr>
            <a:r>
              <a:rPr lang="zh-CN" altLang="en-US" sz="2400" b="1" dirty="0">
                <a:solidFill>
                  <a:srgbClr val="333333"/>
                </a:solidFill>
                <a:latin typeface="黑体" panose="02010600030101010101" charset="-122"/>
                <a:ea typeface="黑体" panose="02010600030101010101" charset="-122"/>
                <a:cs typeface="华文仿宋" panose="02010600040101010101" charset="-122"/>
                <a:sym typeface="+mn-ea"/>
              </a:rPr>
              <a:t>算法</a:t>
            </a:r>
            <a:r>
              <a:rPr lang="zh-CN" altLang="en-US" sz="2400" b="1" dirty="0">
                <a:solidFill>
                  <a:srgbClr val="333333"/>
                </a:solidFill>
                <a:latin typeface="黑体" panose="02010600030101010101" charset="-122"/>
                <a:ea typeface="黑体" panose="02010600030101010101" charset="-122"/>
                <a:cs typeface="华文仿宋" panose="02010600040101010101" charset="-122"/>
                <a:sym typeface="+mn-ea"/>
              </a:rPr>
              <a:t>定义</a:t>
            </a:r>
            <a:endParaRPr lang="zh-CN" altLang="en-US" sz="2400" b="1" dirty="0">
              <a:solidFill>
                <a:srgbClr val="333333"/>
              </a:solidFill>
              <a:latin typeface="黑体" panose="02010600030101010101" charset="-122"/>
              <a:ea typeface="黑体" panose="02010600030101010101" charset="-122"/>
              <a:cs typeface="华文仿宋" panose="02010600040101010101" charset="-122"/>
              <a:sym typeface="+mn-ea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5099685" y="2120900"/>
            <a:ext cx="2004695" cy="480695"/>
          </a:xfrm>
          <a:prstGeom prst="rect">
            <a:avLst/>
          </a:prstGeom>
        </p:spPr>
        <p:txBody>
          <a:bodyPr wrap="square">
            <a:noAutofit/>
          </a:bodyPr>
          <a:p>
            <a:pPr lvl="0" algn="l">
              <a:buClrTx/>
              <a:buSzTx/>
              <a:buFontTx/>
            </a:pPr>
            <a:endParaRPr lang="zh-CN" altLang="en-US" sz="2000" b="1">
              <a:solidFill>
                <a:srgbClr val="333333"/>
              </a:solidFill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  <a:sym typeface="+mn-ea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2035810" y="582930"/>
            <a:ext cx="8120380" cy="1326515"/>
            <a:chOff x="3206" y="98"/>
            <a:chExt cx="12788" cy="2089"/>
          </a:xfrm>
        </p:grpSpPr>
        <p:sp>
          <p:nvSpPr>
            <p:cNvPr id="10" name="TextBox 8"/>
            <p:cNvSpPr txBox="1"/>
            <p:nvPr/>
          </p:nvSpPr>
          <p:spPr>
            <a:xfrm>
              <a:off x="3206" y="98"/>
              <a:ext cx="12788" cy="1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6000" b="1" spc="600" dirty="0" smtClean="0">
                  <a:solidFill>
                    <a:schemeClr val="bg1">
                      <a:lumMod val="95000"/>
                    </a:schemeClr>
                  </a:solidFill>
                  <a:latin typeface="Arial Black" panose="020B0A04020102020204" charset="0"/>
                  <a:ea typeface="方正仿宋_GB2312" panose="02000000000000000000" charset="-122"/>
                  <a:cs typeface="Arial Black" panose="020B0A04020102020204" charset="0"/>
                  <a:sym typeface="+mn-ea"/>
                </a:rPr>
                <a:t>PROGRAM</a:t>
              </a:r>
              <a:endParaRPr lang="en-US" sz="6000" b="1" spc="600" dirty="0" smtClean="0">
                <a:solidFill>
                  <a:schemeClr val="bg1">
                    <a:lumMod val="95000"/>
                  </a:schemeClr>
                </a:solidFill>
                <a:latin typeface="方正仿宋_GB2312" panose="02000000000000000000" charset="-122"/>
                <a:ea typeface="方正仿宋_GB2312" panose="02000000000000000000" charset="-122"/>
                <a:cs typeface="Toots Regular" panose="02010600010101010101" charset="-122"/>
              </a:endParaRPr>
            </a:p>
          </p:txBody>
        </p:sp>
        <p:sp>
          <p:nvSpPr>
            <p:cNvPr id="11" name="TextBox 9"/>
            <p:cNvSpPr txBox="1"/>
            <p:nvPr/>
          </p:nvSpPr>
          <p:spPr>
            <a:xfrm>
              <a:off x="4143" y="653"/>
              <a:ext cx="10932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4800" b="1" spc="600" dirty="0" smtClean="0">
                  <a:solidFill>
                    <a:schemeClr val="tx1"/>
                  </a:solidFill>
                  <a:latin typeface="方正明尚简体" panose="02000000000000000000" charset="-122"/>
                  <a:ea typeface="方正明尚简体" panose="02000000000000000000" charset="-122"/>
                  <a:cs typeface="Toots Regular" panose="02010600010101010101" charset="-122"/>
                  <a:sym typeface="方正明尚简体" panose="02000000000000000000" charset="-122"/>
                </a:rPr>
                <a:t>算法</a:t>
              </a:r>
              <a:endParaRPr lang="zh-CN" altLang="en-US" sz="4800" b="1" spc="600" dirty="0" smtClean="0">
                <a:solidFill>
                  <a:schemeClr val="tx1"/>
                </a:solidFill>
                <a:latin typeface="方正明尚简体" panose="02000000000000000000" charset="-122"/>
                <a:ea typeface="方正明尚简体" panose="02000000000000000000" charset="-122"/>
                <a:cs typeface="Toots Regular" panose="02010600010101010101" charset="-122"/>
                <a:sym typeface="方正明尚简体" panose="02000000000000000000" charset="-122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681" y="1618"/>
              <a:ext cx="7856" cy="5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lnSpc>
                  <a:spcPct val="150000"/>
                </a:lnSpc>
              </a:pPr>
              <a:r>
                <a:rPr lang="en-US" altLang="zh-CN" baseline="-25000" dirty="0" smtClean="0">
                  <a:latin typeface="Futura" panose="020B0602020204020303" charset="0"/>
                  <a:ea typeface="Futura" panose="020B0602020204020303" charset="0"/>
                  <a:cs typeface="+mj-lt"/>
                </a:rPr>
                <a:t>Algorithm</a:t>
              </a:r>
              <a:endParaRPr lang="en-US" altLang="zh-CN" baseline="-25000" dirty="0" smtClean="0">
                <a:latin typeface="Futura" panose="020B0602020204020303" charset="0"/>
                <a:ea typeface="Futura" panose="020B0602020204020303" charset="0"/>
                <a:cs typeface="+mj-lt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765300" y="2129155"/>
            <a:ext cx="9698990" cy="171196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zh-CN" altLang="en-US" b="1" i="0" u="sng">
                <a:solidFill>
                  <a:srgbClr val="1D1D2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算法（</a:t>
            </a:r>
            <a:r>
              <a:rPr lang="en-US" altLang="zh-CN" b="1" i="0" u="sng">
                <a:solidFill>
                  <a:srgbClr val="1D1D2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algorithm</a:t>
            </a:r>
            <a:r>
              <a:rPr lang="zh-CN" altLang="en-US" b="1" i="0" u="sng">
                <a:solidFill>
                  <a:srgbClr val="1D1D2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）</a:t>
            </a:r>
            <a:r>
              <a:rPr lang="zh-CN" altLang="en-US" b="0" i="0">
                <a:solidFill>
                  <a:srgbClr val="1D1D2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是在有限时间内解决特定问题的一组指令或操作步骤，它具有以下特性。</a:t>
            </a:r>
            <a:endParaRPr lang="zh-CN" altLang="en-US" b="0" i="0">
              <a:solidFill>
                <a:srgbClr val="1D1D20"/>
              </a:solidFill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</a:endParaRPr>
          </a:p>
          <a:p>
            <a:pPr marL="167005" indent="0">
              <a:spcBef>
                <a:spcPts val="1000"/>
              </a:spcBef>
              <a:spcAft>
                <a:spcPts val="500"/>
              </a:spcAft>
              <a:buFont typeface="Arial" panose="020B0604020202090204"/>
              <a:buChar char="•"/>
            </a:pPr>
            <a:r>
              <a:rPr lang="en-US" altLang="zh-CN" b="0" i="0">
                <a:solidFill>
                  <a:srgbClr val="1D1D2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  </a:t>
            </a:r>
            <a:r>
              <a:rPr lang="zh-CN" altLang="en-US" b="0" i="0">
                <a:solidFill>
                  <a:srgbClr val="1D1D2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问题是明确的，包含清晰的输入和输出定义。</a:t>
            </a:r>
            <a:endParaRPr lang="zh-CN" altLang="en-US" b="0" i="0">
              <a:solidFill>
                <a:srgbClr val="1D1D20"/>
              </a:solidFill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</a:endParaRPr>
          </a:p>
          <a:p>
            <a:pPr marL="167005" indent="0">
              <a:spcBef>
                <a:spcPts val="1000"/>
              </a:spcBef>
              <a:spcAft>
                <a:spcPts val="500"/>
              </a:spcAft>
              <a:buFont typeface="Arial" panose="020B0604020202090204"/>
              <a:buChar char="•"/>
            </a:pPr>
            <a:r>
              <a:rPr lang="en-US" altLang="zh-CN" b="0" i="0">
                <a:solidFill>
                  <a:srgbClr val="1D1D2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  </a:t>
            </a:r>
            <a:r>
              <a:rPr lang="zh-CN" altLang="en-US" b="0" i="0">
                <a:solidFill>
                  <a:srgbClr val="1D1D2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具有可行性，能够在有限步骤、时间和内存空间下完成。</a:t>
            </a:r>
            <a:endParaRPr lang="zh-CN" altLang="en-US" b="0" i="0">
              <a:solidFill>
                <a:srgbClr val="1D1D20"/>
              </a:solidFill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</a:endParaRPr>
          </a:p>
          <a:p>
            <a:pPr marL="167005" indent="0">
              <a:spcBef>
                <a:spcPts val="1000"/>
              </a:spcBef>
              <a:spcAft>
                <a:spcPct val="0"/>
              </a:spcAft>
              <a:buFont typeface="Arial" panose="020B0604020202090204"/>
              <a:buChar char="•"/>
            </a:pPr>
            <a:r>
              <a:rPr lang="en-US" altLang="zh-CN" b="0" i="0">
                <a:solidFill>
                  <a:srgbClr val="1D1D2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  </a:t>
            </a:r>
            <a:r>
              <a:rPr lang="zh-CN" altLang="en-US" b="0" i="0">
                <a:solidFill>
                  <a:srgbClr val="1D1D2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各步骤都有确定的含义，在相同的输入和运行条件下，输出始终相同。</a:t>
            </a:r>
            <a:endParaRPr lang="zh-CN" altLang="en-US" b="0" i="0">
              <a:solidFill>
                <a:srgbClr val="1D1D20"/>
              </a:solidFill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6990" y="3989705"/>
            <a:ext cx="4229100" cy="2330450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2736850" y="6320155"/>
            <a:ext cx="1515110" cy="33718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ctr"/>
            <a:r>
              <a:rPr lang="zh-CN" altLang="en-US" sz="1600" b="0" i="0">
                <a:solidFill>
                  <a:srgbClr val="1D1D20"/>
                </a:solidFill>
                <a:latin typeface="华文楷体" panose="02010600040101010101" charset="-122"/>
                <a:ea typeface="华文楷体" panose="02010600040101010101" charset="-122"/>
              </a:rPr>
              <a:t>扑克排序</a:t>
            </a:r>
            <a:endParaRPr lang="zh-CN" altLang="en-US" sz="1600" b="0" i="0">
              <a:solidFill>
                <a:srgbClr val="1D1D20"/>
              </a:solidFill>
              <a:latin typeface="华文楷体" panose="02010600040101010101" charset="-122"/>
              <a:ea typeface="华文楷体" panose="02010600040101010101" charset="-122"/>
            </a:endParaRP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4680" y="4010025"/>
            <a:ext cx="3566795" cy="2317750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7990205" y="6327775"/>
            <a:ext cx="1515745" cy="337185"/>
          </a:xfrm>
          <a:prstGeom prst="rect">
            <a:avLst/>
          </a:prstGeom>
        </p:spPr>
        <p:txBody>
          <a:bodyPr wrap="square">
            <a:spAutoFit/>
          </a:bodyPr>
          <a:p>
            <a:pPr lvl="0" algn="ctr">
              <a:buClrTx/>
              <a:buSzTx/>
              <a:buFontTx/>
            </a:pPr>
            <a:r>
              <a:rPr lang="zh-CN" altLang="en-US" sz="1600">
                <a:solidFill>
                  <a:srgbClr val="1D1D20"/>
                </a:solidFill>
                <a:latin typeface="华文楷体" panose="02010600040101010101" charset="-122"/>
                <a:ea typeface="华文楷体" panose="02010600040101010101" charset="-122"/>
                <a:sym typeface="+mn-ea"/>
              </a:rPr>
              <a:t>货币找零</a:t>
            </a:r>
            <a:endParaRPr lang="zh-CN" altLang="en-US" sz="1600">
              <a:solidFill>
                <a:srgbClr val="1D1D20"/>
              </a:solidFill>
              <a:latin typeface="华文楷体" panose="02010600040101010101" charset="-122"/>
              <a:ea typeface="华文楷体" panose="02010600040101010101" charset="-122"/>
              <a:sym typeface="+mn-ea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5789930" y="4301490"/>
            <a:ext cx="504825" cy="1768475"/>
          </a:xfrm>
          <a:prstGeom prst="rect">
            <a:avLst/>
          </a:prstGeom>
        </p:spPr>
        <p:txBody>
          <a:bodyPr wrap="square">
            <a:noAutofit/>
          </a:bodyPr>
          <a:p>
            <a:pPr marL="0" indent="0"/>
            <a:r>
              <a:rPr lang="zh-CN" altLang="en-US" b="0" i="0">
                <a:solidFill>
                  <a:srgbClr val="0070C0"/>
                </a:solidFill>
                <a:latin typeface="华文楷体" panose="02010600040101010101" charset="-122"/>
                <a:ea typeface="华文楷体" panose="02010600040101010101" charset="-122"/>
              </a:rPr>
              <a:t>插入排序算法</a:t>
            </a:r>
            <a:endParaRPr lang="zh-CN" altLang="en-US" b="0" i="0">
              <a:solidFill>
                <a:srgbClr val="0070C0"/>
              </a:solidFill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0753725" y="4600575"/>
            <a:ext cx="504825" cy="1313180"/>
          </a:xfrm>
          <a:prstGeom prst="rect">
            <a:avLst/>
          </a:prstGeom>
        </p:spPr>
        <p:txBody>
          <a:bodyPr wrap="square">
            <a:noAutofit/>
          </a:bodyPr>
          <a:p>
            <a:pPr marL="0" indent="0"/>
            <a:r>
              <a:rPr lang="zh-CN" altLang="en-US" b="0" i="0">
                <a:solidFill>
                  <a:srgbClr val="0070C0"/>
                </a:solidFill>
                <a:latin typeface="华文楷体" panose="02010600040101010101" charset="-122"/>
                <a:ea typeface="华文楷体" panose="02010600040101010101" charset="-122"/>
              </a:rPr>
              <a:t>贪心算法</a:t>
            </a:r>
            <a:endParaRPr lang="zh-CN" altLang="en-US" b="0" i="0">
              <a:solidFill>
                <a:srgbClr val="0070C0"/>
              </a:solidFill>
              <a:latin typeface="华文楷体" panose="02010600040101010101" charset="-122"/>
              <a:ea typeface="华文楷体" panose="0201060004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  <p:bldLst>
      <p:bldP spid="9" grpId="0"/>
      <p:bldP spid="9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7" name="组合 6"/>
          <p:cNvGrpSpPr/>
          <p:nvPr/>
        </p:nvGrpSpPr>
        <p:grpSpPr>
          <a:xfrm>
            <a:off x="2035810" y="582930"/>
            <a:ext cx="8120380" cy="1326515"/>
            <a:chOff x="3206" y="98"/>
            <a:chExt cx="12788" cy="2089"/>
          </a:xfrm>
        </p:grpSpPr>
        <p:sp>
          <p:nvSpPr>
            <p:cNvPr id="10" name="TextBox 8"/>
            <p:cNvSpPr txBox="1"/>
            <p:nvPr/>
          </p:nvSpPr>
          <p:spPr>
            <a:xfrm>
              <a:off x="3206" y="98"/>
              <a:ext cx="12788" cy="1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6000" b="1" spc="600" dirty="0" smtClean="0">
                  <a:solidFill>
                    <a:schemeClr val="bg1">
                      <a:lumMod val="95000"/>
                    </a:schemeClr>
                  </a:solidFill>
                  <a:latin typeface="Arial Black" panose="020B0A04020102020204" charset="0"/>
                  <a:ea typeface="方正仿宋_GB2312" panose="02000000000000000000" charset="-122"/>
                  <a:cs typeface="Arial Black" panose="020B0A04020102020204" charset="0"/>
                  <a:sym typeface="+mn-ea"/>
                </a:rPr>
                <a:t>PROGRAM</a:t>
              </a:r>
              <a:endParaRPr lang="en-US" sz="6000" b="1" spc="600" dirty="0" smtClean="0">
                <a:solidFill>
                  <a:schemeClr val="bg1">
                    <a:lumMod val="95000"/>
                  </a:schemeClr>
                </a:solidFill>
                <a:latin typeface="方正仿宋_GB2312" panose="02000000000000000000" charset="-122"/>
                <a:ea typeface="方正仿宋_GB2312" panose="02000000000000000000" charset="-122"/>
                <a:cs typeface="Toots Regular" panose="02010600010101010101" charset="-122"/>
              </a:endParaRPr>
            </a:p>
          </p:txBody>
        </p:sp>
        <p:sp>
          <p:nvSpPr>
            <p:cNvPr id="11" name="TextBox 9"/>
            <p:cNvSpPr txBox="1"/>
            <p:nvPr/>
          </p:nvSpPr>
          <p:spPr>
            <a:xfrm>
              <a:off x="4143" y="653"/>
              <a:ext cx="10932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4800" b="1" spc="600" dirty="0" smtClean="0">
                  <a:latin typeface="方正明尚简体" panose="02000000000000000000" charset="-122"/>
                  <a:ea typeface="方正明尚简体" panose="02000000000000000000" charset="-122"/>
                  <a:cs typeface="Toots Regular" panose="02010600010101010101" charset="-122"/>
                  <a:sym typeface="方正明尚简体" panose="02000000000000000000" charset="-122"/>
                </a:rPr>
                <a:t>顺序表</a:t>
              </a:r>
              <a:endParaRPr lang="zh-CN" altLang="en-US" sz="4800" b="1" spc="600" dirty="0" smtClean="0">
                <a:solidFill>
                  <a:schemeClr val="tx1"/>
                </a:solidFill>
                <a:latin typeface="方正明尚简体" panose="02000000000000000000" charset="-122"/>
                <a:ea typeface="方正明尚简体" panose="02000000000000000000" charset="-122"/>
                <a:cs typeface="Toots Regular" panose="02010600010101010101" charset="-122"/>
                <a:sym typeface="方正明尚简体" panose="02000000000000000000" charset="-122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681" y="1618"/>
              <a:ext cx="7856" cy="5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lnSpc>
                  <a:spcPct val="150000"/>
                </a:lnSpc>
              </a:pPr>
              <a:r>
                <a:rPr lang="en-US" altLang="zh-CN" baseline="-25000" dirty="0" smtClean="0">
                  <a:latin typeface="Futura" panose="020B0602020204020303" charset="0"/>
                  <a:ea typeface="Futura" panose="020B0602020204020303" charset="0"/>
                  <a:cs typeface="+mj-lt"/>
                </a:rPr>
                <a:t>Array</a:t>
              </a:r>
              <a:endParaRPr lang="en-US" altLang="zh-CN" baseline="-25000" dirty="0" smtClean="0">
                <a:latin typeface="Futura" panose="020B0602020204020303" charset="0"/>
                <a:ea typeface="Futura" panose="020B0602020204020303" charset="0"/>
                <a:cs typeface="+mj-lt"/>
              </a:endParaRPr>
            </a:p>
          </p:txBody>
        </p:sp>
      </p:grpSp>
      <p:sp>
        <p:nvSpPr>
          <p:cNvPr id="8" name="TextBox 7"/>
          <p:cNvSpPr txBox="1"/>
          <p:nvPr>
            <p:custDataLst>
              <p:tags r:id="rId1"/>
            </p:custDataLst>
          </p:nvPr>
        </p:nvSpPr>
        <p:spPr>
          <a:xfrm>
            <a:off x="1263650" y="1449070"/>
            <a:ext cx="612140" cy="460375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p>
            <a:pPr lvl="0" algn="l">
              <a:buClrTx/>
              <a:buSzTx/>
              <a:buFontTx/>
            </a:pPr>
            <a:r>
              <a:rPr lang="zh-CN" altLang="en-US" sz="2400" b="1" dirty="0">
                <a:solidFill>
                  <a:srgbClr val="333333"/>
                </a:solidFill>
                <a:latin typeface="黑体" panose="02010600030101010101" charset="-122"/>
                <a:ea typeface="黑体" panose="02010600030101010101" charset="-122"/>
                <a:cs typeface="华文仿宋" panose="02010600040101010101" charset="-122"/>
                <a:sym typeface="+mn-ea"/>
              </a:rPr>
              <a:t>定义</a:t>
            </a:r>
            <a:endParaRPr lang="zh-CN" altLang="en-US" sz="2400" b="1" dirty="0">
              <a:solidFill>
                <a:srgbClr val="333333"/>
              </a:solidFill>
              <a:latin typeface="黑体" panose="02010600030101010101" charset="-122"/>
              <a:ea typeface="黑体" panose="02010600030101010101" charset="-122"/>
              <a:cs typeface="华文仿宋" panose="02010600040101010101" charset="-122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6015" y="2336165"/>
            <a:ext cx="6894830" cy="374332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588010" y="2774315"/>
            <a:ext cx="4225925" cy="286639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ctr">
              <a:lnSpc>
                <a:spcPct val="130000"/>
              </a:lnSpc>
            </a:pPr>
            <a:r>
              <a:rPr lang="zh-CN" altLang="en-US" sz="2800" b="1" i="0">
                <a:solidFill>
                  <a:srgbClr val="1D1D2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数组（</a:t>
            </a:r>
            <a:r>
              <a:rPr lang="en-US" altLang="zh-CN" sz="2800" b="1" i="0">
                <a:solidFill>
                  <a:srgbClr val="1D1D2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array</a:t>
            </a:r>
            <a:r>
              <a:rPr lang="zh-CN" altLang="en-US" sz="2800" b="1" i="0">
                <a:solidFill>
                  <a:srgbClr val="1D1D2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）</a:t>
            </a:r>
            <a:endParaRPr lang="zh-CN" altLang="en-US" sz="2800" b="1" i="0">
              <a:solidFill>
                <a:srgbClr val="1D1D20"/>
              </a:solidFill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</a:endParaRPr>
          </a:p>
          <a:p>
            <a:pPr marL="0" indent="0">
              <a:lnSpc>
                <a:spcPct val="120000"/>
              </a:lnSpc>
            </a:pPr>
            <a:r>
              <a:rPr lang="zh-CN" altLang="en-US" sz="2400" b="0" i="0">
                <a:solidFill>
                  <a:srgbClr val="1D1D2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是一种线性数据结构，其将相同类型的元素存储在连续的内存空间中。我们将元素在数组中的位置称为该元素的索引（</a:t>
            </a:r>
            <a:r>
              <a:rPr lang="en-US" altLang="zh-CN" sz="2400" b="0" i="0">
                <a:solidFill>
                  <a:srgbClr val="1D1D2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index</a:t>
            </a:r>
            <a:r>
              <a:rPr lang="zh-CN" altLang="en-US" sz="2400" b="0" i="0">
                <a:solidFill>
                  <a:srgbClr val="1D1D2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）</a:t>
            </a:r>
            <a:endParaRPr lang="zh-CN" altLang="en-US" sz="2400" b="0" i="0">
              <a:solidFill>
                <a:srgbClr val="1D1D20"/>
              </a:solidFill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7" name="组合 6"/>
          <p:cNvGrpSpPr/>
          <p:nvPr/>
        </p:nvGrpSpPr>
        <p:grpSpPr>
          <a:xfrm>
            <a:off x="2035810" y="582930"/>
            <a:ext cx="8120380" cy="1326515"/>
            <a:chOff x="3206" y="98"/>
            <a:chExt cx="12788" cy="2089"/>
          </a:xfrm>
        </p:grpSpPr>
        <p:sp>
          <p:nvSpPr>
            <p:cNvPr id="10" name="TextBox 8"/>
            <p:cNvSpPr txBox="1"/>
            <p:nvPr/>
          </p:nvSpPr>
          <p:spPr>
            <a:xfrm>
              <a:off x="3206" y="98"/>
              <a:ext cx="12788" cy="1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6000" b="1" spc="600" dirty="0" smtClean="0">
                  <a:solidFill>
                    <a:schemeClr val="bg1">
                      <a:lumMod val="95000"/>
                    </a:schemeClr>
                  </a:solidFill>
                  <a:latin typeface="Arial Black" panose="020B0A04020102020204" charset="0"/>
                  <a:ea typeface="方正仿宋_GB2312" panose="02000000000000000000" charset="-122"/>
                  <a:cs typeface="Arial Black" panose="020B0A04020102020204" charset="0"/>
                  <a:sym typeface="+mn-ea"/>
                </a:rPr>
                <a:t>PROGRAM</a:t>
              </a:r>
              <a:endParaRPr lang="en-US" sz="6000" b="1" spc="600" dirty="0" smtClean="0">
                <a:solidFill>
                  <a:schemeClr val="bg1">
                    <a:lumMod val="95000"/>
                  </a:schemeClr>
                </a:solidFill>
                <a:latin typeface="方正仿宋_GB2312" panose="02000000000000000000" charset="-122"/>
                <a:ea typeface="方正仿宋_GB2312" panose="02000000000000000000" charset="-122"/>
                <a:cs typeface="Toots Regular" panose="02010600010101010101" charset="-122"/>
              </a:endParaRPr>
            </a:p>
          </p:txBody>
        </p:sp>
        <p:sp>
          <p:nvSpPr>
            <p:cNvPr id="11" name="TextBox 9"/>
            <p:cNvSpPr txBox="1"/>
            <p:nvPr/>
          </p:nvSpPr>
          <p:spPr>
            <a:xfrm>
              <a:off x="4143" y="653"/>
              <a:ext cx="10932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4800" b="1" spc="600" dirty="0" smtClean="0">
                  <a:solidFill>
                    <a:schemeClr val="tx1"/>
                  </a:solidFill>
                  <a:latin typeface="方正明尚简体" panose="02000000000000000000" charset="-122"/>
                  <a:ea typeface="方正明尚简体" panose="02000000000000000000" charset="-122"/>
                  <a:cs typeface="Toots Regular" panose="02010600010101010101" charset="-122"/>
                  <a:sym typeface="方正明尚简体" panose="02000000000000000000" charset="-122"/>
                </a:rPr>
                <a:t>链表</a:t>
              </a:r>
              <a:endParaRPr lang="zh-CN" altLang="en-US" sz="4800" b="1" spc="600" dirty="0" smtClean="0">
                <a:solidFill>
                  <a:schemeClr val="tx1"/>
                </a:solidFill>
                <a:latin typeface="方正明尚简体" panose="02000000000000000000" charset="-122"/>
                <a:ea typeface="方正明尚简体" panose="02000000000000000000" charset="-122"/>
                <a:cs typeface="Toots Regular" panose="02010600010101010101" charset="-122"/>
                <a:sym typeface="方正明尚简体" panose="02000000000000000000" charset="-122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681" y="1618"/>
              <a:ext cx="7856" cy="5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lnSpc>
                  <a:spcPct val="150000"/>
                </a:lnSpc>
              </a:pPr>
              <a:r>
                <a:rPr lang="en-US" altLang="zh-CN" baseline="-25000" dirty="0" smtClean="0">
                  <a:latin typeface="Futura" panose="020B0602020204020303" charset="0"/>
                  <a:ea typeface="Futura" panose="020B0602020204020303" charset="0"/>
                  <a:cs typeface="+mj-lt"/>
                </a:rPr>
                <a:t>Array</a:t>
              </a:r>
              <a:endParaRPr lang="en-US" altLang="zh-CN" baseline="-25000" dirty="0" smtClean="0">
                <a:latin typeface="Futura" panose="020B0602020204020303" charset="0"/>
                <a:ea typeface="Futura" panose="020B0602020204020303" charset="0"/>
                <a:cs typeface="+mj-lt"/>
              </a:endParaRPr>
            </a:p>
          </p:txBody>
        </p:sp>
      </p:grpSp>
      <p:sp>
        <p:nvSpPr>
          <p:cNvPr id="8" name="TextBox 7"/>
          <p:cNvSpPr txBox="1"/>
          <p:nvPr>
            <p:custDataLst>
              <p:tags r:id="rId1"/>
            </p:custDataLst>
          </p:nvPr>
        </p:nvSpPr>
        <p:spPr>
          <a:xfrm>
            <a:off x="1263650" y="1449070"/>
            <a:ext cx="612140" cy="460375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p>
            <a:pPr lvl="0" algn="l">
              <a:buClrTx/>
              <a:buSzTx/>
              <a:buFontTx/>
            </a:pPr>
            <a:r>
              <a:rPr lang="zh-CN" altLang="en-US" sz="2400" b="1" dirty="0">
                <a:solidFill>
                  <a:srgbClr val="333333"/>
                </a:solidFill>
                <a:latin typeface="黑体" panose="02010600030101010101" charset="-122"/>
                <a:ea typeface="黑体" panose="02010600030101010101" charset="-122"/>
                <a:cs typeface="华文仿宋" panose="02010600040101010101" charset="-122"/>
                <a:sym typeface="+mn-ea"/>
              </a:rPr>
              <a:t>定义</a:t>
            </a:r>
            <a:endParaRPr lang="zh-CN" altLang="en-US" sz="2400" b="1" dirty="0">
              <a:solidFill>
                <a:srgbClr val="333333"/>
              </a:solidFill>
              <a:latin typeface="黑体" panose="02010600030101010101" charset="-122"/>
              <a:ea typeface="黑体" panose="02010600030101010101" charset="-122"/>
              <a:cs typeface="华文仿宋" panose="02010600040101010101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88010" y="2230120"/>
            <a:ext cx="4225925" cy="352869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ctr">
              <a:lnSpc>
                <a:spcPct val="130000"/>
              </a:lnSpc>
            </a:pPr>
            <a:r>
              <a:rPr lang="zh-CN" altLang="en-US" sz="2800" b="1">
                <a:solidFill>
                  <a:srgbClr val="1D1D2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  <a:sym typeface="+mn-ea"/>
              </a:rPr>
              <a:t>链表（</a:t>
            </a:r>
            <a:r>
              <a:rPr lang="en-US" altLang="zh-CN" sz="2800" b="1">
                <a:solidFill>
                  <a:srgbClr val="1D1D2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  <a:sym typeface="+mn-ea"/>
              </a:rPr>
              <a:t>linked list</a:t>
            </a:r>
            <a:r>
              <a:rPr lang="zh-CN" altLang="en-US" sz="2800" b="1">
                <a:solidFill>
                  <a:srgbClr val="1D1D2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  <a:sym typeface="+mn-ea"/>
              </a:rPr>
              <a:t>）</a:t>
            </a:r>
            <a:endParaRPr lang="zh-CN" altLang="en-US" sz="2800" b="1">
              <a:solidFill>
                <a:srgbClr val="1D1D20"/>
              </a:solidFill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  <a:sym typeface="+mn-ea"/>
            </a:endParaRPr>
          </a:p>
          <a:p>
            <a:pPr marL="0" indent="0" algn="ctr">
              <a:lnSpc>
                <a:spcPct val="130000"/>
              </a:lnSpc>
            </a:pPr>
            <a:r>
              <a:rPr lang="zh-CN" altLang="en-US" sz="2400" b="0" i="0">
                <a:solidFill>
                  <a:srgbClr val="1D1D2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是一种线性数据结构，其中的每个元素都是一个节点对象，各个节点通过</a:t>
            </a:r>
            <a:r>
              <a:rPr lang="en-US" altLang="zh-CN" sz="2400" b="0" i="0">
                <a:solidFill>
                  <a:srgbClr val="1D1D2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“</a:t>
            </a:r>
            <a:r>
              <a:rPr lang="zh-CN" altLang="en-US" sz="2400" b="0" i="0">
                <a:solidFill>
                  <a:srgbClr val="1D1D2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引用</a:t>
            </a:r>
            <a:r>
              <a:rPr lang="en-US" altLang="zh-CN" sz="2400" b="0" i="0">
                <a:solidFill>
                  <a:srgbClr val="1D1D2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”</a:t>
            </a:r>
            <a:r>
              <a:rPr lang="zh-CN" altLang="en-US" sz="2400" b="0" i="0">
                <a:solidFill>
                  <a:srgbClr val="1D1D2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相连接。引用记录了下一个节点的内存地址，通过它可以从当前节点访问到下一个节点。</a:t>
            </a:r>
            <a:endParaRPr lang="zh-CN" altLang="en-US" sz="2400" b="0" i="0">
              <a:solidFill>
                <a:srgbClr val="1D1D20"/>
              </a:solidFill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2075" y="2358390"/>
            <a:ext cx="6563360" cy="35286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7" name="组合 6"/>
          <p:cNvGrpSpPr/>
          <p:nvPr/>
        </p:nvGrpSpPr>
        <p:grpSpPr>
          <a:xfrm>
            <a:off x="2035810" y="582930"/>
            <a:ext cx="8120380" cy="1326515"/>
            <a:chOff x="3206" y="98"/>
            <a:chExt cx="12788" cy="2089"/>
          </a:xfrm>
        </p:grpSpPr>
        <p:sp>
          <p:nvSpPr>
            <p:cNvPr id="10" name="TextBox 8"/>
            <p:cNvSpPr txBox="1"/>
            <p:nvPr/>
          </p:nvSpPr>
          <p:spPr>
            <a:xfrm>
              <a:off x="3206" y="98"/>
              <a:ext cx="12788" cy="1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6000" b="1" spc="600" dirty="0" smtClean="0">
                  <a:solidFill>
                    <a:schemeClr val="bg1">
                      <a:lumMod val="95000"/>
                    </a:schemeClr>
                  </a:solidFill>
                  <a:latin typeface="Arial Black" panose="020B0A04020102020204" charset="0"/>
                  <a:ea typeface="方正仿宋_GB2312" panose="02000000000000000000" charset="-122"/>
                  <a:cs typeface="Arial Black" panose="020B0A04020102020204" charset="0"/>
                  <a:sym typeface="+mn-ea"/>
                </a:rPr>
                <a:t>PROGRAM</a:t>
              </a:r>
              <a:endParaRPr lang="en-US" sz="6000" b="1" spc="600" dirty="0" smtClean="0">
                <a:solidFill>
                  <a:schemeClr val="bg1">
                    <a:lumMod val="95000"/>
                  </a:schemeClr>
                </a:solidFill>
                <a:latin typeface="方正仿宋_GB2312" panose="02000000000000000000" charset="-122"/>
                <a:ea typeface="方正仿宋_GB2312" panose="02000000000000000000" charset="-122"/>
                <a:cs typeface="Toots Regular" panose="02010600010101010101" charset="-122"/>
              </a:endParaRPr>
            </a:p>
          </p:txBody>
        </p:sp>
        <p:sp>
          <p:nvSpPr>
            <p:cNvPr id="11" name="TextBox 9"/>
            <p:cNvSpPr txBox="1"/>
            <p:nvPr/>
          </p:nvSpPr>
          <p:spPr>
            <a:xfrm>
              <a:off x="4143" y="653"/>
              <a:ext cx="10932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4800" b="1" spc="600" dirty="0" smtClean="0">
                  <a:solidFill>
                    <a:schemeClr val="tx1"/>
                  </a:solidFill>
                  <a:latin typeface="方正明尚简体" panose="02000000000000000000" charset="-122"/>
                  <a:ea typeface="方正明尚简体" panose="02000000000000000000" charset="-122"/>
                  <a:cs typeface="Toots Regular" panose="02010600010101010101" charset="-122"/>
                  <a:sym typeface="方正明尚简体" panose="02000000000000000000" charset="-122"/>
                </a:rPr>
                <a:t>链表</a:t>
              </a:r>
              <a:endParaRPr lang="zh-CN" altLang="en-US" sz="4800" b="1" spc="600" dirty="0" smtClean="0">
                <a:solidFill>
                  <a:schemeClr val="tx1"/>
                </a:solidFill>
                <a:latin typeface="方正明尚简体" panose="02000000000000000000" charset="-122"/>
                <a:ea typeface="方正明尚简体" panose="02000000000000000000" charset="-122"/>
                <a:cs typeface="Toots Regular" panose="02010600010101010101" charset="-122"/>
                <a:sym typeface="方正明尚简体" panose="02000000000000000000" charset="-122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681" y="1618"/>
              <a:ext cx="7856" cy="5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lnSpc>
                  <a:spcPct val="150000"/>
                </a:lnSpc>
              </a:pPr>
              <a:r>
                <a:rPr lang="en-US" altLang="zh-CN" baseline="-25000" dirty="0" smtClean="0">
                  <a:latin typeface="Futura" panose="020B0602020204020303" charset="0"/>
                  <a:ea typeface="Futura" panose="020B0602020204020303" charset="0"/>
                  <a:cs typeface="+mj-lt"/>
                </a:rPr>
                <a:t>Array</a:t>
              </a:r>
              <a:endParaRPr lang="en-US" altLang="zh-CN" baseline="-25000" dirty="0" smtClean="0">
                <a:latin typeface="Futura" panose="020B0602020204020303" charset="0"/>
                <a:ea typeface="Futura" panose="020B0602020204020303" charset="0"/>
                <a:cs typeface="+mj-lt"/>
              </a:endParaRPr>
            </a:p>
          </p:txBody>
        </p:sp>
      </p:grpSp>
      <p:sp>
        <p:nvSpPr>
          <p:cNvPr id="8" name="TextBox 7"/>
          <p:cNvSpPr txBox="1"/>
          <p:nvPr>
            <p:custDataLst>
              <p:tags r:id="rId1"/>
            </p:custDataLst>
          </p:nvPr>
        </p:nvSpPr>
        <p:spPr>
          <a:xfrm>
            <a:off x="1263650" y="1449070"/>
            <a:ext cx="1224280" cy="460375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p>
            <a:pPr lvl="0" algn="l">
              <a:buClrTx/>
              <a:buSzTx/>
              <a:buFontTx/>
            </a:pPr>
            <a:r>
              <a:rPr lang="zh-CN" altLang="en-US" sz="2400" b="1" dirty="0">
                <a:solidFill>
                  <a:srgbClr val="333333"/>
                </a:solidFill>
                <a:latin typeface="黑体" panose="02010600030101010101" charset="-122"/>
                <a:ea typeface="黑体" panose="02010600030101010101" charset="-122"/>
                <a:cs typeface="华文仿宋" panose="02010600040101010101" charset="-122"/>
                <a:sym typeface="+mn-ea"/>
              </a:rPr>
              <a:t>常用</a:t>
            </a:r>
            <a:r>
              <a:rPr lang="zh-CN" altLang="en-US" sz="2400" b="1" dirty="0">
                <a:solidFill>
                  <a:srgbClr val="333333"/>
                </a:solidFill>
                <a:latin typeface="黑体" panose="02010600030101010101" charset="-122"/>
                <a:ea typeface="黑体" panose="02010600030101010101" charset="-122"/>
                <a:cs typeface="华文仿宋" panose="02010600040101010101" charset="-122"/>
                <a:sym typeface="+mn-ea"/>
              </a:rPr>
              <a:t>操作</a:t>
            </a:r>
            <a:endParaRPr lang="zh-CN" altLang="en-US" sz="2400" b="1" dirty="0">
              <a:solidFill>
                <a:srgbClr val="333333"/>
              </a:solidFill>
              <a:latin typeface="黑体" panose="02010600030101010101" charset="-122"/>
              <a:ea typeface="黑体" panose="02010600030101010101" charset="-122"/>
              <a:cs typeface="华文仿宋" panose="02010600040101010101" charset="-122"/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805" y="2204720"/>
            <a:ext cx="5674360" cy="335851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916430" y="5674995"/>
            <a:ext cx="2412365" cy="39878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ctr">
              <a:spcAft>
                <a:spcPct val="60000"/>
              </a:spcAft>
            </a:pPr>
            <a:r>
              <a:rPr lang="zh-CN" altLang="en-US" sz="2000" b="0" i="0">
                <a:solidFill>
                  <a:srgbClr val="1D1D20"/>
                </a:solidFill>
                <a:latin typeface="华文楷体" panose="02010600040101010101" charset="-122"/>
                <a:ea typeface="华文楷体" panose="02010600040101010101" charset="-122"/>
              </a:rPr>
              <a:t>插入节点</a:t>
            </a:r>
            <a:endParaRPr lang="zh-CN" altLang="en-US" sz="2000" b="0" i="0">
              <a:solidFill>
                <a:srgbClr val="1D1D20"/>
              </a:solidFill>
              <a:latin typeface="华文楷体" panose="02010600040101010101" charset="-122"/>
              <a:ea typeface="华文楷体" panose="02010600040101010101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0145" y="2230755"/>
            <a:ext cx="5516880" cy="3303905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7675880" y="5674995"/>
            <a:ext cx="2412365" cy="39878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ctr">
              <a:spcAft>
                <a:spcPct val="60000"/>
              </a:spcAft>
            </a:pPr>
            <a:r>
              <a:rPr lang="zh-CN" altLang="en-US" sz="2000" b="0" i="0">
                <a:solidFill>
                  <a:srgbClr val="1D1D20"/>
                </a:solidFill>
                <a:latin typeface="华文楷体" panose="02010600040101010101" charset="-122"/>
                <a:ea typeface="华文楷体" panose="02010600040101010101" charset="-122"/>
              </a:rPr>
              <a:t>删除节点</a:t>
            </a:r>
            <a:endParaRPr lang="zh-CN" altLang="en-US" sz="2000" b="0" i="0">
              <a:solidFill>
                <a:srgbClr val="1D1D20"/>
              </a:solidFill>
              <a:latin typeface="华文楷体" panose="02010600040101010101" charset="-122"/>
              <a:ea typeface="华文楷体" panose="0201060004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7" name="组合 6"/>
          <p:cNvGrpSpPr/>
          <p:nvPr/>
        </p:nvGrpSpPr>
        <p:grpSpPr>
          <a:xfrm>
            <a:off x="2035810" y="582930"/>
            <a:ext cx="8120380" cy="1326515"/>
            <a:chOff x="3206" y="98"/>
            <a:chExt cx="12788" cy="2089"/>
          </a:xfrm>
        </p:grpSpPr>
        <p:sp>
          <p:nvSpPr>
            <p:cNvPr id="10" name="TextBox 8"/>
            <p:cNvSpPr txBox="1"/>
            <p:nvPr/>
          </p:nvSpPr>
          <p:spPr>
            <a:xfrm>
              <a:off x="3206" y="98"/>
              <a:ext cx="12788" cy="1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6000" b="1" spc="600" dirty="0" smtClean="0">
                  <a:solidFill>
                    <a:schemeClr val="bg1">
                      <a:lumMod val="95000"/>
                    </a:schemeClr>
                  </a:solidFill>
                  <a:latin typeface="Arial Black" panose="020B0A04020102020204" charset="0"/>
                  <a:ea typeface="方正仿宋_GB2312" panose="02000000000000000000" charset="-122"/>
                  <a:cs typeface="Arial Black" panose="020B0A04020102020204" charset="0"/>
                  <a:sym typeface="+mn-ea"/>
                </a:rPr>
                <a:t>PROGRAM</a:t>
              </a:r>
              <a:endParaRPr lang="en-US" sz="6000" b="1" spc="600" dirty="0" smtClean="0">
                <a:solidFill>
                  <a:schemeClr val="bg1">
                    <a:lumMod val="95000"/>
                  </a:schemeClr>
                </a:solidFill>
                <a:latin typeface="方正仿宋_GB2312" panose="02000000000000000000" charset="-122"/>
                <a:ea typeface="方正仿宋_GB2312" panose="02000000000000000000" charset="-122"/>
                <a:cs typeface="Toots Regular" panose="02010600010101010101" charset="-122"/>
              </a:endParaRPr>
            </a:p>
          </p:txBody>
        </p:sp>
        <p:sp>
          <p:nvSpPr>
            <p:cNvPr id="11" name="TextBox 9"/>
            <p:cNvSpPr txBox="1"/>
            <p:nvPr/>
          </p:nvSpPr>
          <p:spPr>
            <a:xfrm>
              <a:off x="4143" y="653"/>
              <a:ext cx="10932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4800" b="1" spc="600" dirty="0" smtClean="0">
                  <a:solidFill>
                    <a:schemeClr val="tx1"/>
                  </a:solidFill>
                  <a:latin typeface="方正明尚简体" panose="02000000000000000000" charset="-122"/>
                  <a:ea typeface="方正明尚简体" panose="02000000000000000000" charset="-122"/>
                  <a:cs typeface="Toots Regular" panose="02010600010101010101" charset="-122"/>
                  <a:sym typeface="方正明尚简体" panose="02000000000000000000" charset="-122"/>
                </a:rPr>
                <a:t>链表</a:t>
              </a:r>
              <a:endParaRPr lang="zh-CN" altLang="en-US" sz="4800" b="1" spc="600" dirty="0" smtClean="0">
                <a:solidFill>
                  <a:schemeClr val="tx1"/>
                </a:solidFill>
                <a:latin typeface="方正明尚简体" panose="02000000000000000000" charset="-122"/>
                <a:ea typeface="方正明尚简体" panose="02000000000000000000" charset="-122"/>
                <a:cs typeface="Toots Regular" panose="02010600010101010101" charset="-122"/>
                <a:sym typeface="方正明尚简体" panose="02000000000000000000" charset="-122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681" y="1618"/>
              <a:ext cx="7856" cy="5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lnSpc>
                  <a:spcPct val="150000"/>
                </a:lnSpc>
              </a:pPr>
              <a:r>
                <a:rPr lang="en-US" altLang="zh-CN" baseline="-25000" dirty="0" smtClean="0">
                  <a:latin typeface="Futura" panose="020B0602020204020303" charset="0"/>
                  <a:ea typeface="Futura" panose="020B0602020204020303" charset="0"/>
                  <a:cs typeface="+mj-lt"/>
                </a:rPr>
                <a:t>Array</a:t>
              </a:r>
              <a:endParaRPr lang="en-US" altLang="zh-CN" baseline="-25000" dirty="0" smtClean="0">
                <a:latin typeface="Futura" panose="020B0602020204020303" charset="0"/>
                <a:ea typeface="Futura" panose="020B0602020204020303" charset="0"/>
                <a:cs typeface="+mj-lt"/>
              </a:endParaRPr>
            </a:p>
          </p:txBody>
        </p:sp>
      </p:grpSp>
      <p:sp>
        <p:nvSpPr>
          <p:cNvPr id="8" name="TextBox 7"/>
          <p:cNvSpPr txBox="1"/>
          <p:nvPr>
            <p:custDataLst>
              <p:tags r:id="rId1"/>
            </p:custDataLst>
          </p:nvPr>
        </p:nvSpPr>
        <p:spPr>
          <a:xfrm>
            <a:off x="1263650" y="1449070"/>
            <a:ext cx="612140" cy="460375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p>
            <a:pPr lvl="0" algn="l">
              <a:buClrTx/>
              <a:buSzTx/>
              <a:buFontTx/>
            </a:pPr>
            <a:r>
              <a:rPr lang="zh-CN" altLang="en-US" sz="2400" b="1" dirty="0">
                <a:solidFill>
                  <a:srgbClr val="333333"/>
                </a:solidFill>
                <a:latin typeface="黑体" panose="02010600030101010101" charset="-122"/>
                <a:ea typeface="黑体" panose="02010600030101010101" charset="-122"/>
                <a:cs typeface="华文仿宋" panose="02010600040101010101" charset="-122"/>
                <a:sym typeface="+mn-ea"/>
              </a:rPr>
              <a:t>代码</a:t>
            </a:r>
            <a:endParaRPr lang="zh-CN" altLang="en-US" sz="2400" b="1" dirty="0">
              <a:solidFill>
                <a:srgbClr val="333333"/>
              </a:solidFill>
              <a:latin typeface="黑体" panose="02010600030101010101" charset="-122"/>
              <a:ea typeface="黑体" panose="02010600030101010101" charset="-122"/>
              <a:cs typeface="华文仿宋" panose="02010600040101010101" charset="-122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8500" y="1976755"/>
            <a:ext cx="5715000" cy="12573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435" y="3406140"/>
            <a:ext cx="3778885" cy="318198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1495" y="3404235"/>
            <a:ext cx="3721100" cy="118110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79595" y="4692650"/>
            <a:ext cx="3683000" cy="1943100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92770" y="3404870"/>
            <a:ext cx="3801110" cy="1146175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30870" y="4692650"/>
            <a:ext cx="3734435" cy="1883410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09380" y="1201420"/>
            <a:ext cx="2891155" cy="18764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7" name="组合 6"/>
          <p:cNvGrpSpPr/>
          <p:nvPr/>
        </p:nvGrpSpPr>
        <p:grpSpPr>
          <a:xfrm>
            <a:off x="2035810" y="582930"/>
            <a:ext cx="8120380" cy="1326515"/>
            <a:chOff x="3206" y="98"/>
            <a:chExt cx="12788" cy="2089"/>
          </a:xfrm>
        </p:grpSpPr>
        <p:sp>
          <p:nvSpPr>
            <p:cNvPr id="10" name="TextBox 8"/>
            <p:cNvSpPr txBox="1"/>
            <p:nvPr/>
          </p:nvSpPr>
          <p:spPr>
            <a:xfrm>
              <a:off x="3206" y="98"/>
              <a:ext cx="12788" cy="1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6000" b="1" spc="600" dirty="0" smtClean="0">
                  <a:solidFill>
                    <a:schemeClr val="bg1">
                      <a:lumMod val="95000"/>
                    </a:schemeClr>
                  </a:solidFill>
                  <a:latin typeface="Arial Black" panose="020B0A04020102020204" charset="0"/>
                  <a:ea typeface="方正仿宋_GB2312" panose="02000000000000000000" charset="-122"/>
                  <a:cs typeface="Arial Black" panose="020B0A04020102020204" charset="0"/>
                  <a:sym typeface="+mn-ea"/>
                </a:rPr>
                <a:t>PROGRAM</a:t>
              </a:r>
              <a:endParaRPr lang="en-US" sz="6000" b="1" spc="600" dirty="0" smtClean="0">
                <a:solidFill>
                  <a:schemeClr val="bg1">
                    <a:lumMod val="95000"/>
                  </a:schemeClr>
                </a:solidFill>
                <a:latin typeface="方正仿宋_GB2312" panose="02000000000000000000" charset="-122"/>
                <a:ea typeface="方正仿宋_GB2312" panose="02000000000000000000" charset="-122"/>
                <a:cs typeface="Toots Regular" panose="02010600010101010101" charset="-122"/>
              </a:endParaRPr>
            </a:p>
          </p:txBody>
        </p:sp>
        <p:sp>
          <p:nvSpPr>
            <p:cNvPr id="11" name="TextBox 9"/>
            <p:cNvSpPr txBox="1"/>
            <p:nvPr/>
          </p:nvSpPr>
          <p:spPr>
            <a:xfrm>
              <a:off x="4143" y="653"/>
              <a:ext cx="10932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4800" b="1" spc="600" dirty="0" smtClean="0">
                  <a:solidFill>
                    <a:schemeClr val="tx1"/>
                  </a:solidFill>
                  <a:latin typeface="方正明尚简体" panose="02000000000000000000" charset="-122"/>
                  <a:ea typeface="方正明尚简体" panose="02000000000000000000" charset="-122"/>
                  <a:cs typeface="Toots Regular" panose="02010600010101010101" charset="-122"/>
                  <a:sym typeface="方正明尚简体" panose="02000000000000000000" charset="-122"/>
                </a:rPr>
                <a:t>栈</a:t>
              </a:r>
              <a:endParaRPr lang="zh-CN" altLang="en-US" sz="4800" b="1" spc="600" dirty="0" smtClean="0">
                <a:solidFill>
                  <a:schemeClr val="tx1"/>
                </a:solidFill>
                <a:latin typeface="方正明尚简体" panose="02000000000000000000" charset="-122"/>
                <a:ea typeface="方正明尚简体" panose="02000000000000000000" charset="-122"/>
                <a:cs typeface="Toots Regular" panose="02010600010101010101" charset="-122"/>
                <a:sym typeface="方正明尚简体" panose="02000000000000000000" charset="-122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681" y="1618"/>
              <a:ext cx="7856" cy="5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lnSpc>
                  <a:spcPct val="150000"/>
                </a:lnSpc>
              </a:pPr>
              <a:r>
                <a:rPr lang="en-US" altLang="zh-CN" baseline="-25000" dirty="0" smtClean="0">
                  <a:latin typeface="Futura" panose="020B0602020204020303" charset="0"/>
                  <a:ea typeface="Futura" panose="020B0602020204020303" charset="0"/>
                  <a:cs typeface="+mj-lt"/>
                </a:rPr>
                <a:t>Stack</a:t>
              </a:r>
              <a:endParaRPr lang="en-US" altLang="zh-CN" baseline="-25000" dirty="0" smtClean="0">
                <a:latin typeface="Futura" panose="020B0602020204020303" charset="0"/>
                <a:ea typeface="Futura" panose="020B0602020204020303" charset="0"/>
                <a:cs typeface="+mj-lt"/>
              </a:endParaRPr>
            </a:p>
          </p:txBody>
        </p:sp>
      </p:grpSp>
      <p:sp>
        <p:nvSpPr>
          <p:cNvPr id="8" name="TextBox 7"/>
          <p:cNvSpPr txBox="1"/>
          <p:nvPr>
            <p:custDataLst>
              <p:tags r:id="rId1"/>
            </p:custDataLst>
          </p:nvPr>
        </p:nvSpPr>
        <p:spPr>
          <a:xfrm>
            <a:off x="1263650" y="1449070"/>
            <a:ext cx="612140" cy="460375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p>
            <a:pPr lvl="0" algn="l">
              <a:buClrTx/>
              <a:buSzTx/>
              <a:buFontTx/>
            </a:pPr>
            <a:r>
              <a:rPr lang="zh-CN" altLang="en-US" sz="2400" b="1" dirty="0">
                <a:solidFill>
                  <a:srgbClr val="333333"/>
                </a:solidFill>
                <a:latin typeface="黑体" panose="02010600030101010101" charset="-122"/>
                <a:ea typeface="黑体" panose="02010600030101010101" charset="-122"/>
                <a:cs typeface="华文仿宋" panose="02010600040101010101" charset="-122"/>
                <a:sym typeface="+mn-ea"/>
              </a:rPr>
              <a:t>定义</a:t>
            </a:r>
            <a:endParaRPr lang="zh-CN" altLang="en-US" sz="2400" b="1" dirty="0">
              <a:solidFill>
                <a:srgbClr val="333333"/>
              </a:solidFill>
              <a:latin typeface="黑体" panose="02010600030101010101" charset="-122"/>
              <a:ea typeface="黑体" panose="02010600030101010101" charset="-122"/>
              <a:cs typeface="华文仿宋" panose="02010600040101010101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437640" y="2008505"/>
            <a:ext cx="8718550" cy="60769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ctr">
              <a:lnSpc>
                <a:spcPct val="120000"/>
              </a:lnSpc>
            </a:pPr>
            <a:r>
              <a:rPr lang="zh-CN" altLang="en-US" sz="2800" b="1" i="0">
                <a:solidFill>
                  <a:srgbClr val="1D1D2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栈（</a:t>
            </a:r>
            <a:r>
              <a:rPr lang="en-US" altLang="zh-CN" sz="2800" b="1" i="0">
                <a:solidFill>
                  <a:srgbClr val="1D1D2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Stack</a:t>
            </a:r>
            <a:r>
              <a:rPr lang="zh-CN" altLang="en-US" sz="2800" b="1" i="0">
                <a:solidFill>
                  <a:srgbClr val="1D1D2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）</a:t>
            </a:r>
            <a:r>
              <a:rPr lang="zh-CN" altLang="en-US" sz="2400" b="0" i="0">
                <a:solidFill>
                  <a:srgbClr val="1D1D2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一种遵循先入后出逻辑的线性数据结构</a:t>
            </a:r>
            <a:endParaRPr lang="zh-CN" altLang="en-US" sz="2400" b="0" i="0">
              <a:solidFill>
                <a:srgbClr val="1D1D20"/>
              </a:solidFill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9600565" y="1951990"/>
            <a:ext cx="1582420" cy="608330"/>
          </a:xfrm>
          <a:prstGeom prst="rect">
            <a:avLst/>
          </a:prstGeom>
        </p:spPr>
        <p:txBody>
          <a:bodyPr wrap="square">
            <a:noAutofit/>
          </a:bodyPr>
          <a:p>
            <a:pPr lvl="0" algn="ctr">
              <a:lnSpc>
                <a:spcPct val="120000"/>
              </a:lnSpc>
              <a:buClrTx/>
              <a:buSzTx/>
              <a:buFontTx/>
            </a:pPr>
            <a:r>
              <a:rPr lang="zh-CN" altLang="en-US" sz="3200" b="1">
                <a:solidFill>
                  <a:srgbClr val="C0000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  <a:sym typeface="+mn-ea"/>
              </a:rPr>
              <a:t>LIFO</a:t>
            </a:r>
            <a:endParaRPr lang="zh-CN" altLang="en-US" sz="3200" b="1">
              <a:solidFill>
                <a:srgbClr val="C00000"/>
              </a:solidFill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610" y="3027045"/>
            <a:ext cx="5406390" cy="319532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9670" y="3030855"/>
            <a:ext cx="5513070" cy="31953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7" name="组合 6"/>
          <p:cNvGrpSpPr/>
          <p:nvPr/>
        </p:nvGrpSpPr>
        <p:grpSpPr>
          <a:xfrm>
            <a:off x="2035810" y="582930"/>
            <a:ext cx="8120380" cy="1326515"/>
            <a:chOff x="3206" y="98"/>
            <a:chExt cx="12788" cy="2089"/>
          </a:xfrm>
        </p:grpSpPr>
        <p:sp>
          <p:nvSpPr>
            <p:cNvPr id="10" name="TextBox 8"/>
            <p:cNvSpPr txBox="1"/>
            <p:nvPr/>
          </p:nvSpPr>
          <p:spPr>
            <a:xfrm>
              <a:off x="3206" y="98"/>
              <a:ext cx="12788" cy="1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6000" b="1" spc="600" dirty="0" smtClean="0">
                  <a:solidFill>
                    <a:schemeClr val="bg1">
                      <a:lumMod val="95000"/>
                    </a:schemeClr>
                  </a:solidFill>
                  <a:latin typeface="Arial Black" panose="020B0A04020102020204" charset="0"/>
                  <a:ea typeface="方正仿宋_GB2312" panose="02000000000000000000" charset="-122"/>
                  <a:cs typeface="Arial Black" panose="020B0A04020102020204" charset="0"/>
                  <a:sym typeface="+mn-ea"/>
                </a:rPr>
                <a:t>PROGRAM</a:t>
              </a:r>
              <a:endParaRPr lang="en-US" sz="6000" b="1" spc="600" dirty="0" smtClean="0">
                <a:solidFill>
                  <a:schemeClr val="bg1">
                    <a:lumMod val="95000"/>
                  </a:schemeClr>
                </a:solidFill>
                <a:latin typeface="方正仿宋_GB2312" panose="02000000000000000000" charset="-122"/>
                <a:ea typeface="方正仿宋_GB2312" panose="02000000000000000000" charset="-122"/>
                <a:cs typeface="Toots Regular" panose="02010600010101010101" charset="-122"/>
              </a:endParaRPr>
            </a:p>
          </p:txBody>
        </p:sp>
        <p:sp>
          <p:nvSpPr>
            <p:cNvPr id="11" name="TextBox 9"/>
            <p:cNvSpPr txBox="1"/>
            <p:nvPr/>
          </p:nvSpPr>
          <p:spPr>
            <a:xfrm>
              <a:off x="4143" y="653"/>
              <a:ext cx="10932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4800" b="1" spc="600" dirty="0" smtClean="0">
                  <a:solidFill>
                    <a:schemeClr val="tx1"/>
                  </a:solidFill>
                  <a:latin typeface="方正明尚简体" panose="02000000000000000000" charset="-122"/>
                  <a:ea typeface="方正明尚简体" panose="02000000000000000000" charset="-122"/>
                  <a:cs typeface="Toots Regular" panose="02010600010101010101" charset="-122"/>
                  <a:sym typeface="方正明尚简体" panose="02000000000000000000" charset="-122"/>
                </a:rPr>
                <a:t>栈</a:t>
              </a:r>
              <a:endParaRPr lang="zh-CN" altLang="en-US" sz="4800" b="1" spc="600" dirty="0" smtClean="0">
                <a:solidFill>
                  <a:schemeClr val="tx1"/>
                </a:solidFill>
                <a:latin typeface="方正明尚简体" panose="02000000000000000000" charset="-122"/>
                <a:ea typeface="方正明尚简体" panose="02000000000000000000" charset="-122"/>
                <a:cs typeface="Toots Regular" panose="02010600010101010101" charset="-122"/>
                <a:sym typeface="方正明尚简体" panose="02000000000000000000" charset="-122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681" y="1618"/>
              <a:ext cx="7856" cy="5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lnSpc>
                  <a:spcPct val="150000"/>
                </a:lnSpc>
              </a:pPr>
              <a:r>
                <a:rPr lang="en-US" altLang="zh-CN" baseline="-25000" dirty="0" smtClean="0">
                  <a:latin typeface="Futura" panose="020B0602020204020303" charset="0"/>
                  <a:ea typeface="Futura" panose="020B0602020204020303" charset="0"/>
                  <a:cs typeface="+mj-lt"/>
                </a:rPr>
                <a:t>Stack</a:t>
              </a:r>
              <a:endParaRPr lang="en-US" altLang="zh-CN" baseline="-25000" dirty="0" smtClean="0">
                <a:latin typeface="Futura" panose="020B0602020204020303" charset="0"/>
                <a:ea typeface="Futura" panose="020B0602020204020303" charset="0"/>
                <a:cs typeface="+mj-lt"/>
              </a:endParaRPr>
            </a:p>
          </p:txBody>
        </p:sp>
      </p:grpSp>
      <p:sp>
        <p:nvSpPr>
          <p:cNvPr id="8" name="TextBox 7"/>
          <p:cNvSpPr txBox="1"/>
          <p:nvPr>
            <p:custDataLst>
              <p:tags r:id="rId1"/>
            </p:custDataLst>
          </p:nvPr>
        </p:nvSpPr>
        <p:spPr>
          <a:xfrm>
            <a:off x="1263650" y="1449070"/>
            <a:ext cx="612140" cy="460375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p>
            <a:pPr lvl="0" algn="l">
              <a:buClrTx/>
              <a:buSzTx/>
              <a:buFontTx/>
            </a:pPr>
            <a:r>
              <a:rPr lang="zh-CN" altLang="en-US" sz="2400" b="1" dirty="0">
                <a:solidFill>
                  <a:srgbClr val="333333"/>
                </a:solidFill>
                <a:latin typeface="黑体" panose="02010600030101010101" charset="-122"/>
                <a:ea typeface="黑体" panose="02010600030101010101" charset="-122"/>
                <a:cs typeface="华文仿宋" panose="02010600040101010101" charset="-122"/>
                <a:sym typeface="+mn-ea"/>
              </a:rPr>
              <a:t>代码</a:t>
            </a:r>
            <a:endParaRPr lang="zh-CN" altLang="en-US" sz="2400" b="1" dirty="0">
              <a:solidFill>
                <a:srgbClr val="333333"/>
              </a:solidFill>
              <a:latin typeface="黑体" panose="02010600030101010101" charset="-122"/>
              <a:ea typeface="黑体" panose="02010600030101010101" charset="-122"/>
              <a:cs typeface="华文仿宋" panose="02010600040101010101" charset="-122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200" y="2185035"/>
            <a:ext cx="3538220" cy="401955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195070" y="6291580"/>
            <a:ext cx="2412365" cy="33718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ctr">
              <a:spcAft>
                <a:spcPct val="60000"/>
              </a:spcAft>
            </a:pPr>
            <a:r>
              <a:rPr lang="zh-CN" altLang="en-US" sz="1600" b="0" i="0">
                <a:solidFill>
                  <a:srgbClr val="1D1D20"/>
                </a:solidFill>
                <a:latin typeface="华文楷体" panose="02010600040101010101" charset="-122"/>
                <a:ea typeface="华文楷体" panose="02010600040101010101" charset="-122"/>
              </a:rPr>
              <a:t>列表</a:t>
            </a:r>
            <a:r>
              <a:rPr lang="zh-CN" altLang="en-US" sz="1600" b="0" i="0">
                <a:solidFill>
                  <a:srgbClr val="1D1D20"/>
                </a:solidFill>
                <a:latin typeface="华文楷体" panose="02010600040101010101" charset="-122"/>
                <a:ea typeface="华文楷体" panose="02010600040101010101" charset="-122"/>
              </a:rPr>
              <a:t>实现</a:t>
            </a:r>
            <a:endParaRPr lang="zh-CN" altLang="en-US" sz="1600" b="0" i="0">
              <a:solidFill>
                <a:srgbClr val="1D1D20"/>
              </a:solidFill>
              <a:latin typeface="华文楷体" panose="02010600040101010101" charset="-122"/>
              <a:ea typeface="华文楷体" panose="02010600040101010101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rcRect b="21078"/>
          <a:stretch>
            <a:fillRect/>
          </a:stretch>
        </p:blipFill>
        <p:spPr>
          <a:xfrm>
            <a:off x="4642485" y="2185035"/>
            <a:ext cx="3411855" cy="4048125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5142230" y="6291580"/>
            <a:ext cx="2412365" cy="33718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ctr">
              <a:spcAft>
                <a:spcPct val="60000"/>
              </a:spcAft>
            </a:pPr>
            <a:r>
              <a:rPr lang="zh-CN" altLang="en-US" sz="1600" b="0" i="0">
                <a:solidFill>
                  <a:srgbClr val="1D1D20"/>
                </a:solidFill>
                <a:latin typeface="华文楷体" panose="02010600040101010101" charset="-122"/>
                <a:ea typeface="华文楷体" panose="02010600040101010101" charset="-122"/>
              </a:rPr>
              <a:t>链表实现</a:t>
            </a:r>
            <a:endParaRPr lang="zh-CN" altLang="en-US" sz="1600" b="0" i="0">
              <a:solidFill>
                <a:srgbClr val="1D1D20"/>
              </a:solidFill>
              <a:latin typeface="华文楷体" panose="02010600040101010101" charset="-122"/>
              <a:ea typeface="华文楷体" panose="02010600040101010101" charset="-122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995" y="2176145"/>
            <a:ext cx="3001645" cy="4028440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8890635" y="6291580"/>
            <a:ext cx="2412365" cy="33718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ctr">
              <a:spcAft>
                <a:spcPct val="60000"/>
              </a:spcAft>
            </a:pPr>
            <a:r>
              <a:rPr lang="zh-CN" altLang="en-US" sz="1600" b="0" i="0">
                <a:solidFill>
                  <a:srgbClr val="1D1D20"/>
                </a:solidFill>
                <a:latin typeface="华文楷体" panose="02010600040101010101" charset="-122"/>
                <a:ea typeface="华文楷体" panose="02010600040101010101" charset="-122"/>
              </a:rPr>
              <a:t>数组实现</a:t>
            </a:r>
            <a:endParaRPr lang="zh-CN" altLang="en-US" sz="1600" b="0" i="0">
              <a:solidFill>
                <a:srgbClr val="1D1D20"/>
              </a:solidFill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2187575" y="1751330"/>
            <a:ext cx="120205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>
                <a:solidFill>
                  <a:srgbClr val="0070C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  <a:sym typeface="+mn-ea"/>
              </a:rPr>
              <a:t>算法实现</a:t>
            </a:r>
            <a:endParaRPr lang="zh-CN" altLang="en-US">
              <a:solidFill>
                <a:srgbClr val="0070C0"/>
              </a:solidFill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  <a:sym typeface="+mn-ea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7688580" y="1758315"/>
            <a:ext cx="120205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>
                <a:solidFill>
                  <a:srgbClr val="0070C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  <a:sym typeface="+mn-ea"/>
              </a:rPr>
              <a:t>算法</a:t>
            </a:r>
            <a:r>
              <a:rPr lang="zh-CN" altLang="en-US">
                <a:solidFill>
                  <a:srgbClr val="0070C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  <a:sym typeface="+mn-ea"/>
              </a:rPr>
              <a:t>原理</a:t>
            </a:r>
            <a:endParaRPr lang="zh-CN" altLang="en-US">
              <a:solidFill>
                <a:srgbClr val="0070C0"/>
              </a:solidFill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7" name="组合 6"/>
          <p:cNvGrpSpPr/>
          <p:nvPr/>
        </p:nvGrpSpPr>
        <p:grpSpPr>
          <a:xfrm>
            <a:off x="2035810" y="582930"/>
            <a:ext cx="8120380" cy="1326515"/>
            <a:chOff x="3206" y="98"/>
            <a:chExt cx="12788" cy="2089"/>
          </a:xfrm>
        </p:grpSpPr>
        <p:sp>
          <p:nvSpPr>
            <p:cNvPr id="10" name="TextBox 8"/>
            <p:cNvSpPr txBox="1"/>
            <p:nvPr/>
          </p:nvSpPr>
          <p:spPr>
            <a:xfrm>
              <a:off x="3206" y="98"/>
              <a:ext cx="12788" cy="1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6000" b="1" spc="600" dirty="0" smtClean="0">
                  <a:solidFill>
                    <a:schemeClr val="bg1">
                      <a:lumMod val="95000"/>
                    </a:schemeClr>
                  </a:solidFill>
                  <a:latin typeface="Arial Black" panose="020B0A04020102020204" charset="0"/>
                  <a:ea typeface="方正仿宋_GB2312" panose="02000000000000000000" charset="-122"/>
                  <a:cs typeface="Arial Black" panose="020B0A04020102020204" charset="0"/>
                  <a:sym typeface="+mn-ea"/>
                </a:rPr>
                <a:t>PROGRAM</a:t>
              </a:r>
              <a:endParaRPr lang="en-US" sz="6000" b="1" spc="600" dirty="0" smtClean="0">
                <a:solidFill>
                  <a:schemeClr val="bg1">
                    <a:lumMod val="95000"/>
                  </a:schemeClr>
                </a:solidFill>
                <a:latin typeface="方正仿宋_GB2312" panose="02000000000000000000" charset="-122"/>
                <a:ea typeface="方正仿宋_GB2312" panose="02000000000000000000" charset="-122"/>
                <a:cs typeface="Toots Regular" panose="02010600010101010101" charset="-122"/>
              </a:endParaRPr>
            </a:p>
          </p:txBody>
        </p:sp>
        <p:sp>
          <p:nvSpPr>
            <p:cNvPr id="11" name="TextBox 9"/>
            <p:cNvSpPr txBox="1"/>
            <p:nvPr/>
          </p:nvSpPr>
          <p:spPr>
            <a:xfrm>
              <a:off x="4143" y="653"/>
              <a:ext cx="10932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4800" b="1" spc="600" dirty="0" smtClean="0">
                  <a:solidFill>
                    <a:schemeClr val="tx1"/>
                  </a:solidFill>
                  <a:latin typeface="方正明尚简体" panose="02000000000000000000" charset="-122"/>
                  <a:ea typeface="方正明尚简体" panose="02000000000000000000" charset="-122"/>
                  <a:cs typeface="Toots Regular" panose="02010600010101010101" charset="-122"/>
                  <a:sym typeface="方正明尚简体" panose="02000000000000000000" charset="-122"/>
                </a:rPr>
                <a:t>栈</a:t>
              </a:r>
              <a:endParaRPr lang="zh-CN" altLang="en-US" sz="4800" b="1" spc="600" dirty="0" smtClean="0">
                <a:solidFill>
                  <a:schemeClr val="tx1"/>
                </a:solidFill>
                <a:latin typeface="方正明尚简体" panose="02000000000000000000" charset="-122"/>
                <a:ea typeface="方正明尚简体" panose="02000000000000000000" charset="-122"/>
                <a:cs typeface="Toots Regular" panose="02010600010101010101" charset="-122"/>
                <a:sym typeface="方正明尚简体" panose="02000000000000000000" charset="-122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681" y="1618"/>
              <a:ext cx="7856" cy="5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lnSpc>
                  <a:spcPct val="150000"/>
                </a:lnSpc>
              </a:pPr>
              <a:r>
                <a:rPr lang="en-US" altLang="zh-CN" baseline="-25000" dirty="0" smtClean="0">
                  <a:latin typeface="Futura" panose="020B0602020204020303" charset="0"/>
                  <a:ea typeface="Futura" panose="020B0602020204020303" charset="0"/>
                  <a:cs typeface="+mj-lt"/>
                </a:rPr>
                <a:t>Stack</a:t>
              </a:r>
              <a:endParaRPr lang="en-US" altLang="zh-CN" baseline="-25000" dirty="0" smtClean="0">
                <a:latin typeface="Futura" panose="020B0602020204020303" charset="0"/>
                <a:ea typeface="Futura" panose="020B0602020204020303" charset="0"/>
                <a:cs typeface="+mj-lt"/>
              </a:endParaRPr>
            </a:p>
          </p:txBody>
        </p:sp>
      </p:grpSp>
      <p:sp>
        <p:nvSpPr>
          <p:cNvPr id="8" name="TextBox 7"/>
          <p:cNvSpPr txBox="1"/>
          <p:nvPr>
            <p:custDataLst>
              <p:tags r:id="rId1"/>
            </p:custDataLst>
          </p:nvPr>
        </p:nvSpPr>
        <p:spPr>
          <a:xfrm>
            <a:off x="1263650" y="1449070"/>
            <a:ext cx="612140" cy="460375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p>
            <a:pPr lvl="0" algn="l">
              <a:buClrTx/>
              <a:buSzTx/>
              <a:buFontTx/>
            </a:pPr>
            <a:r>
              <a:rPr lang="zh-CN" altLang="en-US" sz="2400" b="1" dirty="0">
                <a:solidFill>
                  <a:srgbClr val="333333"/>
                </a:solidFill>
                <a:latin typeface="黑体" panose="02010600030101010101" charset="-122"/>
                <a:ea typeface="黑体" panose="02010600030101010101" charset="-122"/>
                <a:cs typeface="华文仿宋" panose="02010600040101010101" charset="-122"/>
                <a:sym typeface="+mn-ea"/>
              </a:rPr>
              <a:t>定义</a:t>
            </a:r>
            <a:endParaRPr lang="zh-CN" altLang="en-US" sz="2400" b="1" dirty="0">
              <a:solidFill>
                <a:srgbClr val="333333"/>
              </a:solidFill>
              <a:latin typeface="黑体" panose="02010600030101010101" charset="-122"/>
              <a:ea typeface="黑体" panose="02010600030101010101" charset="-122"/>
              <a:cs typeface="华文仿宋" panose="02010600040101010101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437640" y="2008505"/>
            <a:ext cx="8718550" cy="60769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ctr">
              <a:lnSpc>
                <a:spcPct val="120000"/>
              </a:lnSpc>
            </a:pPr>
            <a:r>
              <a:rPr lang="zh-CN" altLang="en-US" sz="2800" b="1" i="0">
                <a:solidFill>
                  <a:srgbClr val="1D1D2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栈（</a:t>
            </a:r>
            <a:r>
              <a:rPr lang="en-US" altLang="zh-CN" sz="2800" b="1" i="0">
                <a:solidFill>
                  <a:srgbClr val="1D1D2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Stack</a:t>
            </a:r>
            <a:r>
              <a:rPr lang="zh-CN" altLang="en-US" sz="2800" b="1" i="0">
                <a:solidFill>
                  <a:srgbClr val="1D1D2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）</a:t>
            </a:r>
            <a:r>
              <a:rPr lang="zh-CN" altLang="en-US" sz="2400" b="0" i="0">
                <a:solidFill>
                  <a:srgbClr val="1D1D2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一种遵循先入后出逻辑的线性数据结构</a:t>
            </a:r>
            <a:endParaRPr lang="zh-CN" altLang="en-US" sz="2400" b="0" i="0">
              <a:solidFill>
                <a:srgbClr val="1D1D20"/>
              </a:solidFill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9600565" y="1951990"/>
            <a:ext cx="1582420" cy="608330"/>
          </a:xfrm>
          <a:prstGeom prst="rect">
            <a:avLst/>
          </a:prstGeom>
        </p:spPr>
        <p:txBody>
          <a:bodyPr wrap="square">
            <a:noAutofit/>
          </a:bodyPr>
          <a:p>
            <a:pPr lvl="0" algn="ctr">
              <a:lnSpc>
                <a:spcPct val="120000"/>
              </a:lnSpc>
              <a:buClrTx/>
              <a:buSzTx/>
              <a:buFontTx/>
            </a:pPr>
            <a:r>
              <a:rPr lang="zh-CN" altLang="en-US" sz="3200" b="1">
                <a:solidFill>
                  <a:srgbClr val="C0000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  <a:sym typeface="+mn-ea"/>
              </a:rPr>
              <a:t>LIFO</a:t>
            </a:r>
            <a:endParaRPr lang="zh-CN" altLang="en-US" sz="3200" b="1">
              <a:solidFill>
                <a:srgbClr val="C00000"/>
              </a:solidFill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610" y="3027045"/>
            <a:ext cx="5406390" cy="319532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9670" y="3030855"/>
            <a:ext cx="5513070" cy="319532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8204835" y="1548130"/>
            <a:ext cx="2704465" cy="361315"/>
          </a:xfrm>
          <a:prstGeom prst="rect">
            <a:avLst/>
          </a:prstGeom>
        </p:spPr>
        <p:txBody>
          <a:bodyPr>
            <a:noAutofit/>
          </a:bodyPr>
          <a:p>
            <a:pPr marL="0" indent="0" algn="ctr"/>
            <a:r>
              <a:rPr lang="zh-CN" altLang="en-US" b="0" i="0">
                <a:solidFill>
                  <a:srgbClr val="0070C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软件中的撤销与反撤销</a:t>
            </a:r>
            <a:endParaRPr lang="zh-CN" altLang="en-US" b="0" i="0">
              <a:solidFill>
                <a:srgbClr val="0070C0"/>
              </a:solidFill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7" name="组合 6"/>
          <p:cNvGrpSpPr/>
          <p:nvPr/>
        </p:nvGrpSpPr>
        <p:grpSpPr>
          <a:xfrm>
            <a:off x="2035810" y="582930"/>
            <a:ext cx="8120380" cy="1326515"/>
            <a:chOff x="3206" y="98"/>
            <a:chExt cx="12788" cy="2089"/>
          </a:xfrm>
        </p:grpSpPr>
        <p:sp>
          <p:nvSpPr>
            <p:cNvPr id="10" name="TextBox 8"/>
            <p:cNvSpPr txBox="1"/>
            <p:nvPr/>
          </p:nvSpPr>
          <p:spPr>
            <a:xfrm>
              <a:off x="3206" y="98"/>
              <a:ext cx="12788" cy="1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6000" b="1" spc="600" dirty="0" smtClean="0">
                  <a:solidFill>
                    <a:schemeClr val="bg1">
                      <a:lumMod val="95000"/>
                    </a:schemeClr>
                  </a:solidFill>
                  <a:latin typeface="Arial Black" panose="020B0A04020102020204" charset="0"/>
                  <a:ea typeface="方正仿宋_GB2312" panose="02000000000000000000" charset="-122"/>
                  <a:cs typeface="Arial Black" panose="020B0A04020102020204" charset="0"/>
                  <a:sym typeface="+mn-ea"/>
                </a:rPr>
                <a:t>PROGRAM</a:t>
              </a:r>
              <a:endParaRPr lang="en-US" sz="6000" b="1" spc="600" dirty="0" smtClean="0">
                <a:solidFill>
                  <a:schemeClr val="bg1">
                    <a:lumMod val="95000"/>
                  </a:schemeClr>
                </a:solidFill>
                <a:latin typeface="方正仿宋_GB2312" panose="02000000000000000000" charset="-122"/>
                <a:ea typeface="方正仿宋_GB2312" panose="02000000000000000000" charset="-122"/>
                <a:cs typeface="Toots Regular" panose="02010600010101010101" charset="-122"/>
              </a:endParaRPr>
            </a:p>
          </p:txBody>
        </p:sp>
        <p:sp>
          <p:nvSpPr>
            <p:cNvPr id="11" name="TextBox 9"/>
            <p:cNvSpPr txBox="1"/>
            <p:nvPr/>
          </p:nvSpPr>
          <p:spPr>
            <a:xfrm>
              <a:off x="4143" y="653"/>
              <a:ext cx="10932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4800" b="1" spc="600" dirty="0" smtClean="0">
                  <a:solidFill>
                    <a:schemeClr val="tx1"/>
                  </a:solidFill>
                  <a:latin typeface="方正明尚简体" panose="02000000000000000000" charset="-122"/>
                  <a:ea typeface="方正明尚简体" panose="02000000000000000000" charset="-122"/>
                  <a:cs typeface="Toots Regular" panose="02010600010101010101" charset="-122"/>
                  <a:sym typeface="方正明尚简体" panose="02000000000000000000" charset="-122"/>
                </a:rPr>
                <a:t>栈</a:t>
              </a:r>
              <a:endParaRPr lang="zh-CN" altLang="en-US" sz="4800" b="1" spc="600" dirty="0" smtClean="0">
                <a:solidFill>
                  <a:schemeClr val="tx1"/>
                </a:solidFill>
                <a:latin typeface="方正明尚简体" panose="02000000000000000000" charset="-122"/>
                <a:ea typeface="方正明尚简体" panose="02000000000000000000" charset="-122"/>
                <a:cs typeface="Toots Regular" panose="02010600010101010101" charset="-122"/>
                <a:sym typeface="方正明尚简体" panose="02000000000000000000" charset="-122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681" y="1618"/>
              <a:ext cx="7856" cy="5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lnSpc>
                  <a:spcPct val="150000"/>
                </a:lnSpc>
              </a:pPr>
              <a:r>
                <a:rPr lang="en-US" altLang="zh-CN" baseline="-25000" dirty="0" smtClean="0">
                  <a:latin typeface="Futura" panose="020B0602020204020303" charset="0"/>
                  <a:ea typeface="Futura" panose="020B0602020204020303" charset="0"/>
                  <a:cs typeface="+mj-lt"/>
                </a:rPr>
                <a:t>Stack</a:t>
              </a:r>
              <a:endParaRPr lang="en-US" altLang="zh-CN" baseline="-25000" dirty="0" smtClean="0">
                <a:latin typeface="Futura" panose="020B0602020204020303" charset="0"/>
                <a:ea typeface="Futura" panose="020B0602020204020303" charset="0"/>
                <a:cs typeface="+mj-lt"/>
              </a:endParaRPr>
            </a:p>
          </p:txBody>
        </p:sp>
      </p:grpSp>
      <p:sp>
        <p:nvSpPr>
          <p:cNvPr id="8" name="TextBox 7"/>
          <p:cNvSpPr txBox="1"/>
          <p:nvPr>
            <p:custDataLst>
              <p:tags r:id="rId1"/>
            </p:custDataLst>
          </p:nvPr>
        </p:nvSpPr>
        <p:spPr>
          <a:xfrm>
            <a:off x="1263650" y="1449070"/>
            <a:ext cx="612140" cy="460375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p>
            <a:pPr lvl="0" algn="l">
              <a:buClrTx/>
              <a:buSzTx/>
              <a:buFontTx/>
            </a:pPr>
            <a:r>
              <a:rPr lang="zh-CN" altLang="en-US" sz="2400" b="1" dirty="0">
                <a:solidFill>
                  <a:srgbClr val="333333"/>
                </a:solidFill>
                <a:latin typeface="黑体" panose="02010600030101010101" charset="-122"/>
                <a:ea typeface="黑体" panose="02010600030101010101" charset="-122"/>
                <a:cs typeface="华文仿宋" panose="02010600040101010101" charset="-122"/>
                <a:sym typeface="+mn-ea"/>
              </a:rPr>
              <a:t>代码</a:t>
            </a:r>
            <a:endParaRPr lang="zh-CN" altLang="en-US" sz="2400" b="1" dirty="0">
              <a:solidFill>
                <a:srgbClr val="333333"/>
              </a:solidFill>
              <a:latin typeface="黑体" panose="02010600030101010101" charset="-122"/>
              <a:ea typeface="黑体" panose="02010600030101010101" charset="-122"/>
              <a:cs typeface="华文仿宋" panose="02010600040101010101" charset="-122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160" y="2806065"/>
            <a:ext cx="6826885" cy="334772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454150" y="2200275"/>
            <a:ext cx="4954905" cy="46037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sz="2400">
                <a:solidFill>
                  <a:srgbClr val="1D1D2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e.g. </a:t>
            </a:r>
            <a:r>
              <a:rPr lang="zh-CN" altLang="en-US" sz="2400">
                <a:solidFill>
                  <a:srgbClr val="1D1D2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用两个栈协同实现双向历史导航</a:t>
            </a:r>
            <a:endParaRPr lang="zh-CN" altLang="en-US" sz="2400">
              <a:solidFill>
                <a:srgbClr val="1D1D20"/>
              </a:solidFill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2670" y="1548130"/>
            <a:ext cx="4309110" cy="51854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7" name="组合 6"/>
          <p:cNvGrpSpPr/>
          <p:nvPr/>
        </p:nvGrpSpPr>
        <p:grpSpPr>
          <a:xfrm>
            <a:off x="2035810" y="582930"/>
            <a:ext cx="8120380" cy="1326515"/>
            <a:chOff x="3206" y="98"/>
            <a:chExt cx="12788" cy="2089"/>
          </a:xfrm>
        </p:grpSpPr>
        <p:sp>
          <p:nvSpPr>
            <p:cNvPr id="10" name="TextBox 8"/>
            <p:cNvSpPr txBox="1"/>
            <p:nvPr/>
          </p:nvSpPr>
          <p:spPr>
            <a:xfrm>
              <a:off x="3206" y="98"/>
              <a:ext cx="12788" cy="1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6000" b="1" spc="600" dirty="0" smtClean="0">
                  <a:solidFill>
                    <a:schemeClr val="bg1">
                      <a:lumMod val="95000"/>
                    </a:schemeClr>
                  </a:solidFill>
                  <a:latin typeface="Arial Black" panose="020B0A04020102020204" charset="0"/>
                  <a:ea typeface="方正仿宋_GB2312" panose="02000000000000000000" charset="-122"/>
                  <a:cs typeface="Arial Black" panose="020B0A04020102020204" charset="0"/>
                  <a:sym typeface="+mn-ea"/>
                </a:rPr>
                <a:t>PROGRAM</a:t>
              </a:r>
              <a:endParaRPr lang="en-US" sz="6000" b="1" spc="600" dirty="0" smtClean="0">
                <a:solidFill>
                  <a:schemeClr val="bg1">
                    <a:lumMod val="95000"/>
                  </a:schemeClr>
                </a:solidFill>
                <a:latin typeface="方正仿宋_GB2312" panose="02000000000000000000" charset="-122"/>
                <a:ea typeface="方正仿宋_GB2312" panose="02000000000000000000" charset="-122"/>
                <a:cs typeface="Toots Regular" panose="02010600010101010101" charset="-122"/>
              </a:endParaRPr>
            </a:p>
          </p:txBody>
        </p:sp>
        <p:sp>
          <p:nvSpPr>
            <p:cNvPr id="11" name="TextBox 9"/>
            <p:cNvSpPr txBox="1"/>
            <p:nvPr/>
          </p:nvSpPr>
          <p:spPr>
            <a:xfrm>
              <a:off x="4143" y="653"/>
              <a:ext cx="10932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4800" b="1" spc="600" dirty="0" smtClean="0">
                  <a:solidFill>
                    <a:schemeClr val="tx1"/>
                  </a:solidFill>
                  <a:latin typeface="方正明尚简体" panose="02000000000000000000" charset="-122"/>
                  <a:ea typeface="方正明尚简体" panose="02000000000000000000" charset="-122"/>
                  <a:cs typeface="Toots Regular" panose="02010600010101010101" charset="-122"/>
                  <a:sym typeface="方正明尚简体" panose="02000000000000000000" charset="-122"/>
                </a:rPr>
                <a:t>队列</a:t>
              </a:r>
              <a:endParaRPr lang="zh-CN" altLang="en-US" sz="4800" b="1" spc="600" dirty="0" smtClean="0">
                <a:solidFill>
                  <a:schemeClr val="tx1"/>
                </a:solidFill>
                <a:latin typeface="方正明尚简体" panose="02000000000000000000" charset="-122"/>
                <a:ea typeface="方正明尚简体" panose="02000000000000000000" charset="-122"/>
                <a:cs typeface="Toots Regular" panose="02010600010101010101" charset="-122"/>
                <a:sym typeface="方正明尚简体" panose="02000000000000000000" charset="-122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681" y="1618"/>
              <a:ext cx="7856" cy="5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lnSpc>
                  <a:spcPct val="150000"/>
                </a:lnSpc>
              </a:pPr>
              <a:r>
                <a:rPr lang="en-US" altLang="zh-CN" baseline="-25000" dirty="0" smtClean="0">
                  <a:latin typeface="Futura" panose="020B0602020204020303" charset="0"/>
                  <a:ea typeface="Futura" panose="020B0602020204020303" charset="0"/>
                  <a:cs typeface="+mj-lt"/>
                </a:rPr>
                <a:t>Queue</a:t>
              </a:r>
              <a:endParaRPr lang="en-US" altLang="zh-CN" baseline="-25000" dirty="0" smtClean="0">
                <a:latin typeface="Futura" panose="020B0602020204020303" charset="0"/>
                <a:ea typeface="Futura" panose="020B0602020204020303" charset="0"/>
                <a:cs typeface="+mj-lt"/>
              </a:endParaRPr>
            </a:p>
          </p:txBody>
        </p:sp>
      </p:grpSp>
      <p:sp>
        <p:nvSpPr>
          <p:cNvPr id="8" name="TextBox 7"/>
          <p:cNvSpPr txBox="1"/>
          <p:nvPr>
            <p:custDataLst>
              <p:tags r:id="rId1"/>
            </p:custDataLst>
          </p:nvPr>
        </p:nvSpPr>
        <p:spPr>
          <a:xfrm>
            <a:off x="1263650" y="1449070"/>
            <a:ext cx="612140" cy="460375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p>
            <a:pPr lvl="0" algn="l">
              <a:buClrTx/>
              <a:buSzTx/>
              <a:buFontTx/>
            </a:pPr>
            <a:r>
              <a:rPr lang="zh-CN" altLang="en-US" sz="2400" b="1" dirty="0">
                <a:solidFill>
                  <a:srgbClr val="333333"/>
                </a:solidFill>
                <a:latin typeface="黑体" panose="02010600030101010101" charset="-122"/>
                <a:ea typeface="黑体" panose="02010600030101010101" charset="-122"/>
                <a:cs typeface="华文仿宋" panose="02010600040101010101" charset="-122"/>
                <a:sym typeface="+mn-ea"/>
              </a:rPr>
              <a:t>定义</a:t>
            </a:r>
            <a:endParaRPr lang="zh-CN" altLang="en-US" sz="2400" b="1" dirty="0">
              <a:solidFill>
                <a:srgbClr val="333333"/>
              </a:solidFill>
              <a:latin typeface="黑体" panose="02010600030101010101" charset="-122"/>
              <a:ea typeface="黑体" panose="02010600030101010101" charset="-122"/>
              <a:cs typeface="华文仿宋" panose="02010600040101010101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437640" y="2008505"/>
            <a:ext cx="8718550" cy="60769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ctr">
              <a:lnSpc>
                <a:spcPct val="120000"/>
              </a:lnSpc>
            </a:pPr>
            <a:r>
              <a:rPr lang="zh-CN" altLang="en-US" sz="2800" b="1" i="0">
                <a:solidFill>
                  <a:srgbClr val="1D1D2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队列（</a:t>
            </a:r>
            <a:r>
              <a:rPr lang="en-US" altLang="zh-CN" sz="2800" b="1" i="0">
                <a:solidFill>
                  <a:srgbClr val="1D1D2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queue</a:t>
            </a:r>
            <a:r>
              <a:rPr lang="zh-CN" altLang="en-US" sz="2800" b="1" i="0">
                <a:solidFill>
                  <a:srgbClr val="1D1D2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）</a:t>
            </a:r>
            <a:r>
              <a:rPr lang="zh-CN" altLang="en-US" sz="2400" b="0" i="0">
                <a:solidFill>
                  <a:srgbClr val="1D1D2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是一种遵循先入先出规则的线性数据结构</a:t>
            </a:r>
            <a:endParaRPr lang="zh-CN" altLang="en-US" sz="2400" b="0" i="0">
              <a:solidFill>
                <a:srgbClr val="1D1D20"/>
              </a:solidFill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9600565" y="1951990"/>
            <a:ext cx="1582420" cy="608330"/>
          </a:xfrm>
          <a:prstGeom prst="rect">
            <a:avLst/>
          </a:prstGeom>
        </p:spPr>
        <p:txBody>
          <a:bodyPr wrap="square">
            <a:noAutofit/>
          </a:bodyPr>
          <a:p>
            <a:pPr lvl="0" algn="ctr">
              <a:lnSpc>
                <a:spcPct val="120000"/>
              </a:lnSpc>
              <a:buClrTx/>
              <a:buSzTx/>
              <a:buFontTx/>
            </a:pPr>
            <a:r>
              <a:rPr lang="en-US" altLang="zh-CN" sz="3200" b="1">
                <a:solidFill>
                  <a:srgbClr val="C0000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  <a:sym typeface="+mn-ea"/>
              </a:rPr>
              <a:t>F</a:t>
            </a:r>
            <a:r>
              <a:rPr lang="zh-CN" altLang="en-US" sz="3200" b="1">
                <a:solidFill>
                  <a:srgbClr val="C0000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  <a:sym typeface="+mn-ea"/>
              </a:rPr>
              <a:t>IFO</a:t>
            </a:r>
            <a:endParaRPr lang="zh-CN" altLang="en-US" sz="3200" b="1">
              <a:solidFill>
                <a:srgbClr val="C00000"/>
              </a:solidFill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300" y="3027045"/>
            <a:ext cx="5500370" cy="336296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2670" y="3245485"/>
            <a:ext cx="5748020" cy="305689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8595995" y="1548130"/>
            <a:ext cx="1849755" cy="361315"/>
          </a:xfrm>
          <a:prstGeom prst="rect">
            <a:avLst/>
          </a:prstGeom>
        </p:spPr>
        <p:txBody>
          <a:bodyPr>
            <a:noAutofit/>
          </a:bodyPr>
          <a:p>
            <a:pPr marL="0" indent="0" algn="ctr"/>
            <a:r>
              <a:rPr lang="zh-CN" altLang="en-US" b="0" i="0">
                <a:solidFill>
                  <a:srgbClr val="0070C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代办</a:t>
            </a:r>
            <a:r>
              <a:rPr lang="zh-CN" altLang="en-US" b="0" i="0">
                <a:solidFill>
                  <a:srgbClr val="0070C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事项</a:t>
            </a:r>
            <a:endParaRPr lang="zh-CN" altLang="en-US" b="0" i="0">
              <a:solidFill>
                <a:srgbClr val="0070C0"/>
              </a:solidFill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TextBox 7"/>
          <p:cNvSpPr txBox="1"/>
          <p:nvPr>
            <p:custDataLst>
              <p:tags r:id="rId1"/>
            </p:custDataLst>
          </p:nvPr>
        </p:nvSpPr>
        <p:spPr>
          <a:xfrm>
            <a:off x="1263650" y="1449070"/>
            <a:ext cx="612140" cy="460375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p>
            <a:pPr lvl="0" algn="l">
              <a:buClrTx/>
              <a:buSzTx/>
              <a:buFontTx/>
            </a:pPr>
            <a:r>
              <a:rPr lang="zh-CN" altLang="en-US" sz="2400" b="1" dirty="0">
                <a:solidFill>
                  <a:srgbClr val="333333"/>
                </a:solidFill>
                <a:latin typeface="黑体" panose="02010600030101010101" charset="-122"/>
                <a:ea typeface="黑体" panose="02010600030101010101" charset="-122"/>
                <a:cs typeface="华文仿宋" panose="02010600040101010101" charset="-122"/>
                <a:sym typeface="+mn-ea"/>
              </a:rPr>
              <a:t>代码</a:t>
            </a:r>
            <a:endParaRPr lang="zh-CN" altLang="en-US" sz="2400" b="1" dirty="0">
              <a:solidFill>
                <a:srgbClr val="333333"/>
              </a:solidFill>
              <a:latin typeface="黑体" panose="02010600030101010101" charset="-122"/>
              <a:ea typeface="黑体" panose="02010600030101010101" charset="-122"/>
              <a:cs typeface="华文仿宋" panose="02010600040101010101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839470" y="6248400"/>
            <a:ext cx="2412365" cy="33718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ctr">
              <a:spcAft>
                <a:spcPct val="60000"/>
              </a:spcAft>
            </a:pPr>
            <a:r>
              <a:rPr lang="zh-CN" altLang="en-US" sz="1600" b="0" i="0">
                <a:solidFill>
                  <a:srgbClr val="1D1D20"/>
                </a:solidFill>
                <a:latin typeface="华文楷体" panose="02010600040101010101" charset="-122"/>
                <a:ea typeface="华文楷体" panose="02010600040101010101" charset="-122"/>
              </a:rPr>
              <a:t>列表</a:t>
            </a:r>
            <a:r>
              <a:rPr lang="zh-CN" altLang="en-US" sz="1600" b="0" i="0">
                <a:solidFill>
                  <a:srgbClr val="1D1D20"/>
                </a:solidFill>
                <a:latin typeface="华文楷体" panose="02010600040101010101" charset="-122"/>
                <a:ea typeface="华文楷体" panose="02010600040101010101" charset="-122"/>
              </a:rPr>
              <a:t>实现</a:t>
            </a:r>
            <a:endParaRPr lang="zh-CN" altLang="en-US" sz="1600" b="0" i="0">
              <a:solidFill>
                <a:srgbClr val="1D1D20"/>
              </a:solidFill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4889500" y="6248400"/>
            <a:ext cx="2412365" cy="33718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ctr">
              <a:spcAft>
                <a:spcPct val="60000"/>
              </a:spcAft>
            </a:pPr>
            <a:r>
              <a:rPr lang="zh-CN" altLang="en-US" sz="1600" b="0" i="0">
                <a:solidFill>
                  <a:srgbClr val="1D1D20"/>
                </a:solidFill>
                <a:latin typeface="华文楷体" panose="02010600040101010101" charset="-122"/>
                <a:ea typeface="华文楷体" panose="02010600040101010101" charset="-122"/>
              </a:rPr>
              <a:t>链表实现</a:t>
            </a:r>
            <a:endParaRPr lang="zh-CN" altLang="en-US" sz="1600" b="0" i="0">
              <a:solidFill>
                <a:srgbClr val="1D1D20"/>
              </a:solidFill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8838565" y="6248400"/>
            <a:ext cx="2412365" cy="33718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ctr">
              <a:spcAft>
                <a:spcPct val="60000"/>
              </a:spcAft>
            </a:pPr>
            <a:r>
              <a:rPr lang="zh-CN" altLang="en-US" sz="1600" b="0" i="0">
                <a:solidFill>
                  <a:srgbClr val="1D1D20"/>
                </a:solidFill>
                <a:latin typeface="华文楷体" panose="02010600040101010101" charset="-122"/>
                <a:ea typeface="华文楷体" panose="02010600040101010101" charset="-122"/>
              </a:rPr>
              <a:t>数组实现</a:t>
            </a:r>
            <a:endParaRPr lang="zh-CN" altLang="en-US" sz="1600" b="0" i="0">
              <a:solidFill>
                <a:srgbClr val="1D1D20"/>
              </a:solidFill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2187575" y="1751330"/>
            <a:ext cx="120205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>
                <a:solidFill>
                  <a:srgbClr val="0070C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  <a:sym typeface="+mn-ea"/>
              </a:rPr>
              <a:t>算法实现</a:t>
            </a:r>
            <a:endParaRPr lang="zh-CN" altLang="en-US">
              <a:solidFill>
                <a:srgbClr val="0070C0"/>
              </a:solidFill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  <a:sym typeface="+mn-ea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7688580" y="1758315"/>
            <a:ext cx="120205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>
                <a:solidFill>
                  <a:srgbClr val="0070C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  <a:sym typeface="+mn-ea"/>
              </a:rPr>
              <a:t>算法</a:t>
            </a:r>
            <a:r>
              <a:rPr lang="zh-CN" altLang="en-US">
                <a:solidFill>
                  <a:srgbClr val="0070C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  <a:sym typeface="+mn-ea"/>
              </a:rPr>
              <a:t>原理</a:t>
            </a:r>
            <a:endParaRPr lang="zh-CN" altLang="en-US">
              <a:solidFill>
                <a:srgbClr val="0070C0"/>
              </a:solidFill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615" y="2170430"/>
            <a:ext cx="3648075" cy="401256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8125" y="2191385"/>
            <a:ext cx="3839845" cy="399923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6405" y="2201545"/>
            <a:ext cx="3957320" cy="3981450"/>
          </a:xfrm>
          <a:prstGeom prst="rect">
            <a:avLst/>
          </a:prstGeom>
        </p:spPr>
      </p:pic>
      <p:grpSp>
        <p:nvGrpSpPr>
          <p:cNvPr id="6" name="组合 5"/>
          <p:cNvGrpSpPr/>
          <p:nvPr/>
        </p:nvGrpSpPr>
        <p:grpSpPr>
          <a:xfrm>
            <a:off x="2035810" y="582930"/>
            <a:ext cx="8120380" cy="1326515"/>
            <a:chOff x="3206" y="98"/>
            <a:chExt cx="12788" cy="2089"/>
          </a:xfrm>
        </p:grpSpPr>
        <p:sp>
          <p:nvSpPr>
            <p:cNvPr id="19" name="TextBox 8"/>
            <p:cNvSpPr txBox="1"/>
            <p:nvPr/>
          </p:nvSpPr>
          <p:spPr>
            <a:xfrm>
              <a:off x="3206" y="98"/>
              <a:ext cx="12788" cy="1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6000" b="1" spc="600" dirty="0" smtClean="0">
                  <a:solidFill>
                    <a:schemeClr val="bg1">
                      <a:lumMod val="95000"/>
                    </a:schemeClr>
                  </a:solidFill>
                  <a:latin typeface="Arial Black" panose="020B0A04020102020204" charset="0"/>
                  <a:ea typeface="方正仿宋_GB2312" panose="02000000000000000000" charset="-122"/>
                  <a:cs typeface="Arial Black" panose="020B0A04020102020204" charset="0"/>
                  <a:sym typeface="+mn-ea"/>
                </a:rPr>
                <a:t>PROGRAM</a:t>
              </a:r>
              <a:endParaRPr lang="en-US" sz="6000" b="1" spc="600" dirty="0" smtClean="0">
                <a:solidFill>
                  <a:schemeClr val="bg1">
                    <a:lumMod val="95000"/>
                  </a:schemeClr>
                </a:solidFill>
                <a:latin typeface="方正仿宋_GB2312" panose="02000000000000000000" charset="-122"/>
                <a:ea typeface="方正仿宋_GB2312" panose="02000000000000000000" charset="-122"/>
                <a:cs typeface="Toots Regular" panose="02010600010101010101" charset="-122"/>
              </a:endParaRPr>
            </a:p>
          </p:txBody>
        </p:sp>
        <p:sp>
          <p:nvSpPr>
            <p:cNvPr id="20" name="TextBox 9"/>
            <p:cNvSpPr txBox="1"/>
            <p:nvPr/>
          </p:nvSpPr>
          <p:spPr>
            <a:xfrm>
              <a:off x="4143" y="653"/>
              <a:ext cx="10932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4800" b="1" spc="600" dirty="0" smtClean="0">
                  <a:solidFill>
                    <a:schemeClr val="tx1"/>
                  </a:solidFill>
                  <a:latin typeface="方正明尚简体" panose="02000000000000000000" charset="-122"/>
                  <a:ea typeface="方正明尚简体" panose="02000000000000000000" charset="-122"/>
                  <a:cs typeface="Toots Regular" panose="02010600010101010101" charset="-122"/>
                  <a:sym typeface="方正明尚简体" panose="02000000000000000000" charset="-122"/>
                </a:rPr>
                <a:t>队列</a:t>
              </a:r>
              <a:endParaRPr lang="zh-CN" altLang="en-US" sz="4800" b="1" spc="600" dirty="0" smtClean="0">
                <a:solidFill>
                  <a:schemeClr val="tx1"/>
                </a:solidFill>
                <a:latin typeface="方正明尚简体" panose="02000000000000000000" charset="-122"/>
                <a:ea typeface="方正明尚简体" panose="02000000000000000000" charset="-122"/>
                <a:cs typeface="Toots Regular" panose="02010600010101010101" charset="-122"/>
                <a:sym typeface="方正明尚简体" panose="02000000000000000000" charset="-122"/>
              </a:endParaRPr>
            </a:p>
          </p:txBody>
        </p:sp>
        <p:sp>
          <p:nvSpPr>
            <p:cNvPr id="21" name="TextBox 12"/>
            <p:cNvSpPr txBox="1"/>
            <p:nvPr/>
          </p:nvSpPr>
          <p:spPr>
            <a:xfrm>
              <a:off x="5681" y="1618"/>
              <a:ext cx="7856" cy="5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lnSpc>
                  <a:spcPct val="150000"/>
                </a:lnSpc>
              </a:pPr>
              <a:r>
                <a:rPr lang="en-US" altLang="zh-CN" baseline="-25000" dirty="0" smtClean="0">
                  <a:latin typeface="Futura" panose="020B0602020204020303" charset="0"/>
                  <a:ea typeface="Futura" panose="020B0602020204020303" charset="0"/>
                  <a:cs typeface="+mj-lt"/>
                </a:rPr>
                <a:t>Queue</a:t>
              </a:r>
              <a:endParaRPr lang="en-US" altLang="zh-CN" baseline="-25000" dirty="0" smtClean="0">
                <a:latin typeface="Futura" panose="020B0602020204020303" charset="0"/>
                <a:ea typeface="Futura" panose="020B0602020204020303" charset="0"/>
                <a:cs typeface="+mj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7" name="组合 6"/>
          <p:cNvGrpSpPr/>
          <p:nvPr/>
        </p:nvGrpSpPr>
        <p:grpSpPr>
          <a:xfrm>
            <a:off x="2035810" y="582930"/>
            <a:ext cx="8120380" cy="1326515"/>
            <a:chOff x="3206" y="98"/>
            <a:chExt cx="12788" cy="2089"/>
          </a:xfrm>
        </p:grpSpPr>
        <p:sp>
          <p:nvSpPr>
            <p:cNvPr id="10" name="TextBox 8"/>
            <p:cNvSpPr txBox="1"/>
            <p:nvPr/>
          </p:nvSpPr>
          <p:spPr>
            <a:xfrm>
              <a:off x="3206" y="98"/>
              <a:ext cx="12788" cy="1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6000" b="1" spc="600" dirty="0" smtClean="0">
                  <a:solidFill>
                    <a:schemeClr val="bg1">
                      <a:lumMod val="95000"/>
                    </a:schemeClr>
                  </a:solidFill>
                  <a:latin typeface="Arial Black" panose="020B0A04020102020204" charset="0"/>
                  <a:ea typeface="方正仿宋_GB2312" panose="02000000000000000000" charset="-122"/>
                  <a:cs typeface="Arial Black" panose="020B0A04020102020204" charset="0"/>
                  <a:sym typeface="+mn-ea"/>
                </a:rPr>
                <a:t>PROGRAM</a:t>
              </a:r>
              <a:endParaRPr lang="en-US" sz="6000" b="1" spc="600" dirty="0" smtClean="0">
                <a:solidFill>
                  <a:schemeClr val="bg1">
                    <a:lumMod val="95000"/>
                  </a:schemeClr>
                </a:solidFill>
                <a:latin typeface="方正仿宋_GB2312" panose="02000000000000000000" charset="-122"/>
                <a:ea typeface="方正仿宋_GB2312" panose="02000000000000000000" charset="-122"/>
                <a:cs typeface="Toots Regular" panose="02010600010101010101" charset="-122"/>
              </a:endParaRPr>
            </a:p>
          </p:txBody>
        </p:sp>
        <p:sp>
          <p:nvSpPr>
            <p:cNvPr id="11" name="TextBox 9"/>
            <p:cNvSpPr txBox="1"/>
            <p:nvPr/>
          </p:nvSpPr>
          <p:spPr>
            <a:xfrm>
              <a:off x="4143" y="653"/>
              <a:ext cx="10932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4800" b="1" spc="600" dirty="0" smtClean="0">
                  <a:solidFill>
                    <a:schemeClr val="tx1"/>
                  </a:solidFill>
                  <a:latin typeface="方正明尚简体" panose="02000000000000000000" charset="-122"/>
                  <a:ea typeface="方正明尚简体" panose="02000000000000000000" charset="-122"/>
                  <a:cs typeface="Toots Regular" panose="02010600010101010101" charset="-122"/>
                  <a:sym typeface="方正明尚简体" panose="02000000000000000000" charset="-122"/>
                </a:rPr>
                <a:t>双向队列</a:t>
              </a:r>
              <a:endParaRPr lang="zh-CN" altLang="en-US" sz="4800" b="1" spc="600" dirty="0" smtClean="0">
                <a:solidFill>
                  <a:schemeClr val="tx1"/>
                </a:solidFill>
                <a:latin typeface="方正明尚简体" panose="02000000000000000000" charset="-122"/>
                <a:ea typeface="方正明尚简体" panose="02000000000000000000" charset="-122"/>
                <a:cs typeface="Toots Regular" panose="02010600010101010101" charset="-122"/>
                <a:sym typeface="方正明尚简体" panose="02000000000000000000" charset="-122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681" y="1618"/>
              <a:ext cx="7856" cy="5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lnSpc>
                  <a:spcPct val="150000"/>
                </a:lnSpc>
              </a:pPr>
              <a:r>
                <a:rPr lang="en-US" altLang="zh-CN" baseline="-25000" dirty="0" smtClean="0">
                  <a:latin typeface="Futura" panose="020B0602020204020303" charset="0"/>
                  <a:ea typeface="Futura" panose="020B0602020204020303" charset="0"/>
                  <a:cs typeface="+mj-lt"/>
                </a:rPr>
                <a:t>Double-ended Queue</a:t>
              </a:r>
              <a:endParaRPr lang="en-US" altLang="zh-CN" baseline="-25000" dirty="0" smtClean="0">
                <a:latin typeface="Futura" panose="020B0602020204020303" charset="0"/>
                <a:ea typeface="Futura" panose="020B0602020204020303" charset="0"/>
                <a:cs typeface="+mj-lt"/>
              </a:endParaRPr>
            </a:p>
          </p:txBody>
        </p:sp>
      </p:grpSp>
      <p:sp>
        <p:nvSpPr>
          <p:cNvPr id="8" name="TextBox 7"/>
          <p:cNvSpPr txBox="1"/>
          <p:nvPr>
            <p:custDataLst>
              <p:tags r:id="rId1"/>
            </p:custDataLst>
          </p:nvPr>
        </p:nvSpPr>
        <p:spPr>
          <a:xfrm>
            <a:off x="1263650" y="1449070"/>
            <a:ext cx="612140" cy="460375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p>
            <a:pPr lvl="0" algn="l">
              <a:buClrTx/>
              <a:buSzTx/>
              <a:buFontTx/>
            </a:pPr>
            <a:r>
              <a:rPr lang="zh-CN" altLang="en-US" sz="2400" b="1" dirty="0">
                <a:solidFill>
                  <a:srgbClr val="333333"/>
                </a:solidFill>
                <a:latin typeface="黑体" panose="02010600030101010101" charset="-122"/>
                <a:ea typeface="黑体" panose="02010600030101010101" charset="-122"/>
                <a:cs typeface="华文仿宋" panose="02010600040101010101" charset="-122"/>
                <a:sym typeface="+mn-ea"/>
              </a:rPr>
              <a:t>定义</a:t>
            </a:r>
            <a:endParaRPr lang="zh-CN" altLang="en-US" sz="2400" b="1" dirty="0">
              <a:solidFill>
                <a:srgbClr val="333333"/>
              </a:solidFill>
              <a:latin typeface="黑体" panose="02010600030101010101" charset="-122"/>
              <a:ea typeface="黑体" panose="02010600030101010101" charset="-122"/>
              <a:cs typeface="华文仿宋" panose="02010600040101010101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437640" y="2008505"/>
            <a:ext cx="10153015" cy="60769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ctr">
              <a:lnSpc>
                <a:spcPct val="120000"/>
              </a:lnSpc>
            </a:pPr>
            <a:r>
              <a:rPr lang="zh-CN" altLang="en-US" sz="2800" b="1" i="0">
                <a:solidFill>
                  <a:srgbClr val="1D1D2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双向队列</a:t>
            </a:r>
            <a:r>
              <a:rPr lang="en-US" altLang="zh-CN" sz="2800" b="1" i="0">
                <a:solidFill>
                  <a:srgbClr val="1D1D2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  </a:t>
            </a:r>
            <a:r>
              <a:rPr lang="zh-CN" altLang="en-US" sz="2400" b="0" i="0">
                <a:solidFill>
                  <a:srgbClr val="1D1D2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允许在头部和尾部执行元素的添加或删除操作。</a:t>
            </a:r>
            <a:endParaRPr lang="zh-CN" altLang="en-US" sz="2400" b="0" i="0">
              <a:solidFill>
                <a:srgbClr val="1D1D20"/>
              </a:solidFill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245" y="3027045"/>
            <a:ext cx="5740400" cy="347408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9930" y="2713990"/>
            <a:ext cx="4121150" cy="39414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TextBox 7"/>
          <p:cNvSpPr txBox="1"/>
          <p:nvPr>
            <p:custDataLst>
              <p:tags r:id="rId1"/>
            </p:custDataLst>
          </p:nvPr>
        </p:nvSpPr>
        <p:spPr>
          <a:xfrm>
            <a:off x="1263650" y="1449070"/>
            <a:ext cx="612140" cy="460375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p>
            <a:pPr lvl="0" algn="l">
              <a:buClrTx/>
              <a:buSzTx/>
              <a:buFontTx/>
            </a:pPr>
            <a:r>
              <a:rPr lang="zh-CN" altLang="en-US" sz="2400" b="1" dirty="0">
                <a:solidFill>
                  <a:srgbClr val="333333"/>
                </a:solidFill>
                <a:latin typeface="黑体" panose="02010600030101010101" charset="-122"/>
                <a:ea typeface="黑体" panose="02010600030101010101" charset="-122"/>
                <a:cs typeface="华文仿宋" panose="02010600040101010101" charset="-122"/>
                <a:sym typeface="+mn-ea"/>
              </a:rPr>
              <a:t>代码</a:t>
            </a:r>
            <a:endParaRPr lang="zh-CN" altLang="en-US" sz="2400" b="1" dirty="0">
              <a:solidFill>
                <a:srgbClr val="333333"/>
              </a:solidFill>
              <a:latin typeface="黑体" panose="02010600030101010101" charset="-122"/>
              <a:ea typeface="黑体" panose="02010600030101010101" charset="-122"/>
              <a:cs typeface="华文仿宋" panose="02010600040101010101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839470" y="6248400"/>
            <a:ext cx="2412365" cy="33718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ctr">
              <a:spcAft>
                <a:spcPct val="60000"/>
              </a:spcAft>
            </a:pPr>
            <a:r>
              <a:rPr lang="zh-CN" altLang="en-US" sz="1600" b="0" i="0">
                <a:solidFill>
                  <a:srgbClr val="1D1D20"/>
                </a:solidFill>
                <a:latin typeface="华文楷体" panose="02010600040101010101" charset="-122"/>
                <a:ea typeface="华文楷体" panose="02010600040101010101" charset="-122"/>
              </a:rPr>
              <a:t>列表</a:t>
            </a:r>
            <a:r>
              <a:rPr lang="zh-CN" altLang="en-US" sz="1600" b="0" i="0">
                <a:solidFill>
                  <a:srgbClr val="1D1D20"/>
                </a:solidFill>
                <a:latin typeface="华文楷体" panose="02010600040101010101" charset="-122"/>
                <a:ea typeface="华文楷体" panose="02010600040101010101" charset="-122"/>
              </a:rPr>
              <a:t>实现</a:t>
            </a:r>
            <a:endParaRPr lang="zh-CN" altLang="en-US" sz="1600" b="0" i="0">
              <a:solidFill>
                <a:srgbClr val="1D1D20"/>
              </a:solidFill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4791710" y="6263005"/>
            <a:ext cx="2412365" cy="33718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ctr">
              <a:spcAft>
                <a:spcPct val="60000"/>
              </a:spcAft>
            </a:pPr>
            <a:r>
              <a:rPr lang="zh-CN" altLang="en-US" sz="1600" b="0" i="0">
                <a:solidFill>
                  <a:srgbClr val="1D1D20"/>
                </a:solidFill>
                <a:latin typeface="华文楷体" panose="02010600040101010101" charset="-122"/>
                <a:ea typeface="华文楷体" panose="02010600040101010101" charset="-122"/>
              </a:rPr>
              <a:t>链表实现</a:t>
            </a:r>
            <a:endParaRPr lang="zh-CN" altLang="en-US" sz="1600" b="0" i="0">
              <a:solidFill>
                <a:srgbClr val="1D1D20"/>
              </a:solidFill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8595995" y="6233795"/>
            <a:ext cx="2412365" cy="33718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ctr">
              <a:spcAft>
                <a:spcPct val="60000"/>
              </a:spcAft>
            </a:pPr>
            <a:r>
              <a:rPr lang="zh-CN" altLang="en-US" sz="1600" b="0" i="0">
                <a:solidFill>
                  <a:srgbClr val="1D1D20"/>
                </a:solidFill>
                <a:latin typeface="华文楷体" panose="02010600040101010101" charset="-122"/>
                <a:ea typeface="华文楷体" panose="02010600040101010101" charset="-122"/>
              </a:rPr>
              <a:t>数组实现</a:t>
            </a:r>
            <a:endParaRPr lang="zh-CN" altLang="en-US" sz="1600" b="0" i="0">
              <a:solidFill>
                <a:srgbClr val="1D1D20"/>
              </a:solidFill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2187575" y="1751330"/>
            <a:ext cx="120205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>
                <a:solidFill>
                  <a:srgbClr val="0070C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  <a:sym typeface="+mn-ea"/>
              </a:rPr>
              <a:t>算法实现</a:t>
            </a:r>
            <a:endParaRPr lang="zh-CN" altLang="en-US">
              <a:solidFill>
                <a:srgbClr val="0070C0"/>
              </a:solidFill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  <a:sym typeface="+mn-ea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7688580" y="1758315"/>
            <a:ext cx="120205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>
                <a:solidFill>
                  <a:srgbClr val="0070C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  <a:sym typeface="+mn-ea"/>
              </a:rPr>
              <a:t>算法</a:t>
            </a:r>
            <a:r>
              <a:rPr lang="zh-CN" altLang="en-US">
                <a:solidFill>
                  <a:srgbClr val="0070C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  <a:sym typeface="+mn-ea"/>
              </a:rPr>
              <a:t>原理</a:t>
            </a:r>
            <a:endParaRPr lang="zh-CN" altLang="en-US">
              <a:solidFill>
                <a:srgbClr val="0070C0"/>
              </a:solidFill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670" y="2205355"/>
            <a:ext cx="3119120" cy="399986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6380" y="2214880"/>
            <a:ext cx="3883025" cy="40005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4995" y="2205355"/>
            <a:ext cx="3394710" cy="3999865"/>
          </a:xfrm>
          <a:prstGeom prst="rect">
            <a:avLst/>
          </a:prstGeom>
        </p:spPr>
      </p:pic>
      <p:grpSp>
        <p:nvGrpSpPr>
          <p:cNvPr id="11" name="组合 10"/>
          <p:cNvGrpSpPr/>
          <p:nvPr/>
        </p:nvGrpSpPr>
        <p:grpSpPr>
          <a:xfrm>
            <a:off x="2035810" y="582930"/>
            <a:ext cx="8120380" cy="1326515"/>
            <a:chOff x="3206" y="98"/>
            <a:chExt cx="12788" cy="2089"/>
          </a:xfrm>
        </p:grpSpPr>
        <p:sp>
          <p:nvSpPr>
            <p:cNvPr id="12" name="TextBox 8"/>
            <p:cNvSpPr txBox="1"/>
            <p:nvPr/>
          </p:nvSpPr>
          <p:spPr>
            <a:xfrm>
              <a:off x="3206" y="98"/>
              <a:ext cx="12788" cy="1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6000" b="1" spc="600" dirty="0" smtClean="0">
                  <a:solidFill>
                    <a:schemeClr val="bg1">
                      <a:lumMod val="95000"/>
                    </a:schemeClr>
                  </a:solidFill>
                  <a:latin typeface="Arial Black" panose="020B0A04020102020204" charset="0"/>
                  <a:ea typeface="方正仿宋_GB2312" panose="02000000000000000000" charset="-122"/>
                  <a:cs typeface="Arial Black" panose="020B0A04020102020204" charset="0"/>
                  <a:sym typeface="+mn-ea"/>
                </a:rPr>
                <a:t>PROGRAM</a:t>
              </a:r>
              <a:endParaRPr lang="en-US" sz="6000" b="1" spc="600" dirty="0" smtClean="0">
                <a:solidFill>
                  <a:schemeClr val="bg1">
                    <a:lumMod val="95000"/>
                  </a:schemeClr>
                </a:solidFill>
                <a:latin typeface="方正仿宋_GB2312" panose="02000000000000000000" charset="-122"/>
                <a:ea typeface="方正仿宋_GB2312" panose="02000000000000000000" charset="-122"/>
                <a:cs typeface="Toots Regular" panose="02010600010101010101" charset="-122"/>
              </a:endParaRPr>
            </a:p>
          </p:txBody>
        </p:sp>
        <p:sp>
          <p:nvSpPr>
            <p:cNvPr id="13" name="TextBox 9"/>
            <p:cNvSpPr txBox="1"/>
            <p:nvPr/>
          </p:nvSpPr>
          <p:spPr>
            <a:xfrm>
              <a:off x="4143" y="653"/>
              <a:ext cx="10932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4800" b="1" spc="600" dirty="0" smtClean="0">
                  <a:solidFill>
                    <a:schemeClr val="tx1"/>
                  </a:solidFill>
                  <a:latin typeface="方正明尚简体" panose="02000000000000000000" charset="-122"/>
                  <a:ea typeface="方正明尚简体" panose="02000000000000000000" charset="-122"/>
                  <a:cs typeface="Toots Regular" panose="02010600010101010101" charset="-122"/>
                  <a:sym typeface="方正明尚简体" panose="02000000000000000000" charset="-122"/>
                </a:rPr>
                <a:t>双向队列</a:t>
              </a:r>
              <a:endParaRPr lang="zh-CN" altLang="en-US" sz="4800" b="1" spc="600" dirty="0" smtClean="0">
                <a:solidFill>
                  <a:schemeClr val="tx1"/>
                </a:solidFill>
                <a:latin typeface="方正明尚简体" panose="02000000000000000000" charset="-122"/>
                <a:ea typeface="方正明尚简体" panose="02000000000000000000" charset="-122"/>
                <a:cs typeface="Toots Regular" panose="02010600010101010101" charset="-122"/>
                <a:sym typeface="方正明尚简体" panose="02000000000000000000" charset="-122"/>
              </a:endParaRPr>
            </a:p>
          </p:txBody>
        </p:sp>
        <p:sp>
          <p:nvSpPr>
            <p:cNvPr id="15" name="TextBox 12"/>
            <p:cNvSpPr txBox="1"/>
            <p:nvPr/>
          </p:nvSpPr>
          <p:spPr>
            <a:xfrm>
              <a:off x="5681" y="1618"/>
              <a:ext cx="7856" cy="5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lnSpc>
                  <a:spcPct val="150000"/>
                </a:lnSpc>
              </a:pPr>
              <a:r>
                <a:rPr lang="en-US" altLang="zh-CN" baseline="-25000" dirty="0" smtClean="0">
                  <a:latin typeface="Futura" panose="020B0602020204020303" charset="0"/>
                  <a:ea typeface="Futura" panose="020B0602020204020303" charset="0"/>
                  <a:cs typeface="+mj-lt"/>
                </a:rPr>
                <a:t>Double-ended Queue</a:t>
              </a:r>
              <a:endParaRPr lang="en-US" altLang="zh-CN" baseline="-25000" dirty="0" smtClean="0">
                <a:latin typeface="Futura" panose="020B0602020204020303" charset="0"/>
                <a:ea typeface="Futura" panose="020B0602020204020303" charset="0"/>
                <a:cs typeface="+mj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7" name="组合 6"/>
          <p:cNvGrpSpPr/>
          <p:nvPr/>
        </p:nvGrpSpPr>
        <p:grpSpPr>
          <a:xfrm>
            <a:off x="2035810" y="582930"/>
            <a:ext cx="8120380" cy="1326515"/>
            <a:chOff x="3206" y="98"/>
            <a:chExt cx="12788" cy="2089"/>
          </a:xfrm>
        </p:grpSpPr>
        <p:sp>
          <p:nvSpPr>
            <p:cNvPr id="10" name="TextBox 8"/>
            <p:cNvSpPr txBox="1"/>
            <p:nvPr/>
          </p:nvSpPr>
          <p:spPr>
            <a:xfrm>
              <a:off x="3206" y="98"/>
              <a:ext cx="12788" cy="1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6000" b="1" spc="600" dirty="0" smtClean="0">
                  <a:solidFill>
                    <a:schemeClr val="bg1">
                      <a:lumMod val="95000"/>
                    </a:schemeClr>
                  </a:solidFill>
                  <a:latin typeface="Arial Black" panose="020B0A04020102020204" charset="0"/>
                  <a:ea typeface="方正仿宋_GB2312" panose="02000000000000000000" charset="-122"/>
                  <a:cs typeface="Arial Black" panose="020B0A04020102020204" charset="0"/>
                  <a:sym typeface="+mn-ea"/>
                </a:rPr>
                <a:t>PROGRAM</a:t>
              </a:r>
              <a:endParaRPr lang="en-US" sz="6000" b="1" spc="600" dirty="0" smtClean="0">
                <a:solidFill>
                  <a:schemeClr val="bg1">
                    <a:lumMod val="95000"/>
                  </a:schemeClr>
                </a:solidFill>
                <a:latin typeface="方正仿宋_GB2312" panose="02000000000000000000" charset="-122"/>
                <a:ea typeface="方正仿宋_GB2312" panose="02000000000000000000" charset="-122"/>
                <a:cs typeface="Toots Regular" panose="02010600010101010101" charset="-122"/>
              </a:endParaRPr>
            </a:p>
          </p:txBody>
        </p:sp>
        <p:sp>
          <p:nvSpPr>
            <p:cNvPr id="11" name="TextBox 9"/>
            <p:cNvSpPr txBox="1"/>
            <p:nvPr/>
          </p:nvSpPr>
          <p:spPr>
            <a:xfrm>
              <a:off x="4143" y="653"/>
              <a:ext cx="10932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4800" b="1" spc="600" dirty="0" smtClean="0">
                  <a:solidFill>
                    <a:schemeClr val="tx1"/>
                  </a:solidFill>
                  <a:latin typeface="方正明尚简体" panose="02000000000000000000" charset="-122"/>
                  <a:ea typeface="方正明尚简体" panose="02000000000000000000" charset="-122"/>
                  <a:cs typeface="Toots Regular" panose="02010600010101010101" charset="-122"/>
                  <a:sym typeface="方正明尚简体" panose="02000000000000000000" charset="-122"/>
                </a:rPr>
                <a:t>双向队列</a:t>
              </a:r>
              <a:endParaRPr lang="zh-CN" altLang="en-US" sz="4800" b="1" spc="600" dirty="0" smtClean="0">
                <a:solidFill>
                  <a:schemeClr val="tx1"/>
                </a:solidFill>
                <a:latin typeface="方正明尚简体" panose="02000000000000000000" charset="-122"/>
                <a:ea typeface="方正明尚简体" panose="02000000000000000000" charset="-122"/>
                <a:cs typeface="Toots Regular" panose="02010600010101010101" charset="-122"/>
                <a:sym typeface="方正明尚简体" panose="02000000000000000000" charset="-122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681" y="1618"/>
              <a:ext cx="7856" cy="5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lnSpc>
                  <a:spcPct val="150000"/>
                </a:lnSpc>
              </a:pPr>
              <a:r>
                <a:rPr lang="en-US" altLang="zh-CN" baseline="-25000" dirty="0" smtClean="0">
                  <a:latin typeface="Futura" panose="020B0602020204020303" charset="0"/>
                  <a:ea typeface="Futura" panose="020B0602020204020303" charset="0"/>
                  <a:cs typeface="+mj-lt"/>
                </a:rPr>
                <a:t>Double-ended Queue</a:t>
              </a:r>
              <a:endParaRPr lang="en-US" altLang="zh-CN" baseline="-25000" dirty="0" smtClean="0">
                <a:latin typeface="Futura" panose="020B0602020204020303" charset="0"/>
                <a:ea typeface="Futura" panose="020B0602020204020303" charset="0"/>
                <a:cs typeface="+mj-lt"/>
              </a:endParaRPr>
            </a:p>
          </p:txBody>
        </p:sp>
      </p:grpSp>
      <p:sp>
        <p:nvSpPr>
          <p:cNvPr id="8" name="TextBox 7"/>
          <p:cNvSpPr txBox="1"/>
          <p:nvPr>
            <p:custDataLst>
              <p:tags r:id="rId1"/>
            </p:custDataLst>
          </p:nvPr>
        </p:nvSpPr>
        <p:spPr>
          <a:xfrm>
            <a:off x="1263650" y="1449070"/>
            <a:ext cx="612140" cy="460375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p>
            <a:pPr lvl="0" algn="l">
              <a:buClrTx/>
              <a:buSzTx/>
              <a:buFontTx/>
            </a:pPr>
            <a:r>
              <a:rPr lang="zh-CN" altLang="en-US" sz="2400" b="1" dirty="0">
                <a:solidFill>
                  <a:srgbClr val="333333"/>
                </a:solidFill>
                <a:latin typeface="黑体" panose="02010600030101010101" charset="-122"/>
                <a:ea typeface="黑体" panose="02010600030101010101" charset="-122"/>
                <a:cs typeface="华文仿宋" panose="02010600040101010101" charset="-122"/>
                <a:sym typeface="+mn-ea"/>
              </a:rPr>
              <a:t>定义</a:t>
            </a:r>
            <a:endParaRPr lang="zh-CN" altLang="en-US" sz="2400" b="1" dirty="0">
              <a:solidFill>
                <a:srgbClr val="333333"/>
              </a:solidFill>
              <a:latin typeface="黑体" panose="02010600030101010101" charset="-122"/>
              <a:ea typeface="黑体" panose="02010600030101010101" charset="-122"/>
              <a:cs typeface="华文仿宋" panose="02010600040101010101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437640" y="2008505"/>
            <a:ext cx="10153015" cy="60769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ctr">
              <a:lnSpc>
                <a:spcPct val="120000"/>
              </a:lnSpc>
            </a:pPr>
            <a:r>
              <a:rPr lang="zh-CN" altLang="en-US" sz="2800" b="1" i="0">
                <a:solidFill>
                  <a:srgbClr val="1D1D2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双向队列</a:t>
            </a:r>
            <a:r>
              <a:rPr lang="en-US" altLang="zh-CN" sz="2800" b="1" i="0">
                <a:solidFill>
                  <a:srgbClr val="1D1D2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  </a:t>
            </a:r>
            <a:r>
              <a:rPr lang="zh-CN" altLang="en-US" sz="2400" b="0" i="0">
                <a:solidFill>
                  <a:srgbClr val="1D1D2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允许在头部和尾部执行元素的添加或删除操作。</a:t>
            </a:r>
            <a:endParaRPr lang="zh-CN" altLang="en-US" sz="2400" b="0" i="0">
              <a:solidFill>
                <a:srgbClr val="1D1D20"/>
              </a:solidFill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245" y="3027045"/>
            <a:ext cx="5740400" cy="347408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9930" y="2713990"/>
            <a:ext cx="4121150" cy="3941445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8103235" y="1264285"/>
            <a:ext cx="3673475" cy="829945"/>
          </a:xfrm>
          <a:prstGeom prst="rect">
            <a:avLst/>
          </a:prstGeom>
        </p:spPr>
        <p:txBody>
          <a:bodyPr>
            <a:noAutofit/>
          </a:bodyPr>
          <a:p>
            <a:pPr marL="0" indent="0" algn="ctr"/>
            <a:r>
              <a:rPr lang="zh-CN" altLang="en-US" b="0" i="0">
                <a:solidFill>
                  <a:srgbClr val="0070C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软件的“</a:t>
            </a:r>
            <a:r>
              <a:rPr lang="zh-CN" altLang="en-US" sz="2400" b="1" i="0">
                <a:solidFill>
                  <a:srgbClr val="0070C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撤销</a:t>
            </a:r>
            <a:r>
              <a:rPr lang="zh-CN" altLang="en-US" b="0" i="0">
                <a:solidFill>
                  <a:srgbClr val="0070C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”功能</a:t>
            </a:r>
            <a:endParaRPr lang="zh-CN" altLang="en-US" b="0" i="0">
              <a:solidFill>
                <a:srgbClr val="0070C0"/>
              </a:solidFill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</a:endParaRPr>
          </a:p>
          <a:p>
            <a:pPr marL="0" indent="0" algn="ctr"/>
            <a:r>
              <a:rPr lang="en-US" altLang="zh-CN" b="0" i="0">
                <a:solidFill>
                  <a:srgbClr val="0070C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（</a:t>
            </a:r>
            <a:r>
              <a:rPr lang="zh-CN" altLang="en-US" b="0" i="0">
                <a:solidFill>
                  <a:srgbClr val="0070C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无限</a:t>
            </a:r>
            <a:r>
              <a:rPr lang="en-US" altLang="zh-CN" b="0" i="0">
                <a:solidFill>
                  <a:srgbClr val="0070C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-</a:t>
            </a:r>
            <a:r>
              <a:rPr lang="zh-CN" altLang="en-US" b="0" i="0">
                <a:solidFill>
                  <a:srgbClr val="0070C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栈</a:t>
            </a:r>
            <a:r>
              <a:rPr lang="en-US" altLang="zh-CN" b="0" i="0">
                <a:solidFill>
                  <a:srgbClr val="0070C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；</a:t>
            </a:r>
            <a:r>
              <a:rPr lang="zh-CN" altLang="en-US" b="0" i="0">
                <a:solidFill>
                  <a:srgbClr val="0070C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有限</a:t>
            </a:r>
            <a:r>
              <a:rPr lang="en-US" altLang="zh-CN" b="0" i="0">
                <a:solidFill>
                  <a:srgbClr val="0070C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-</a:t>
            </a:r>
            <a:r>
              <a:rPr lang="zh-CN" altLang="en-US" b="0" i="0">
                <a:solidFill>
                  <a:srgbClr val="0070C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双向队列</a:t>
            </a:r>
            <a:r>
              <a:rPr lang="en-US" altLang="zh-CN" b="0" i="0">
                <a:solidFill>
                  <a:srgbClr val="0070C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）</a:t>
            </a:r>
            <a:endParaRPr lang="en-US" altLang="zh-CN" b="0" i="0">
              <a:solidFill>
                <a:srgbClr val="0070C0"/>
              </a:solidFill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TextBox 7"/>
          <p:cNvSpPr txBox="1"/>
          <p:nvPr>
            <p:custDataLst>
              <p:tags r:id="rId1"/>
            </p:custDataLst>
          </p:nvPr>
        </p:nvSpPr>
        <p:spPr>
          <a:xfrm>
            <a:off x="1263650" y="1449070"/>
            <a:ext cx="612140" cy="460375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p>
            <a:pPr lvl="0" algn="l">
              <a:buClrTx/>
              <a:buSzTx/>
              <a:buFontTx/>
            </a:pPr>
            <a:r>
              <a:rPr lang="zh-CN" altLang="en-US" sz="2400" b="1" dirty="0">
                <a:solidFill>
                  <a:srgbClr val="333333"/>
                </a:solidFill>
                <a:latin typeface="黑体" panose="02010600030101010101" charset="-122"/>
                <a:ea typeface="黑体" panose="02010600030101010101" charset="-122"/>
                <a:cs typeface="华文仿宋" panose="02010600040101010101" charset="-122"/>
                <a:sym typeface="+mn-ea"/>
              </a:rPr>
              <a:t>代码</a:t>
            </a:r>
            <a:endParaRPr lang="zh-CN" altLang="en-US" sz="2400" b="1" dirty="0">
              <a:solidFill>
                <a:srgbClr val="333333"/>
              </a:solidFill>
              <a:latin typeface="黑体" panose="02010600030101010101" charset="-122"/>
              <a:ea typeface="黑体" panose="02010600030101010101" charset="-122"/>
              <a:cs typeface="华文仿宋" panose="02010600040101010101" charset="-122"/>
              <a:sym typeface="+mn-ea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2035810" y="582930"/>
            <a:ext cx="8120380" cy="1326515"/>
            <a:chOff x="3206" y="98"/>
            <a:chExt cx="12788" cy="2089"/>
          </a:xfrm>
        </p:grpSpPr>
        <p:sp>
          <p:nvSpPr>
            <p:cNvPr id="12" name="TextBox 8"/>
            <p:cNvSpPr txBox="1"/>
            <p:nvPr/>
          </p:nvSpPr>
          <p:spPr>
            <a:xfrm>
              <a:off x="3206" y="98"/>
              <a:ext cx="12788" cy="1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6000" b="1" spc="600" dirty="0" smtClean="0">
                  <a:solidFill>
                    <a:schemeClr val="bg1">
                      <a:lumMod val="95000"/>
                    </a:schemeClr>
                  </a:solidFill>
                  <a:latin typeface="Arial Black" panose="020B0A04020102020204" charset="0"/>
                  <a:ea typeface="方正仿宋_GB2312" panose="02000000000000000000" charset="-122"/>
                  <a:cs typeface="Arial Black" panose="020B0A04020102020204" charset="0"/>
                  <a:sym typeface="+mn-ea"/>
                </a:rPr>
                <a:t>PROGRAM</a:t>
              </a:r>
              <a:endParaRPr lang="en-US" sz="6000" b="1" spc="600" dirty="0" smtClean="0">
                <a:solidFill>
                  <a:schemeClr val="bg1">
                    <a:lumMod val="95000"/>
                  </a:schemeClr>
                </a:solidFill>
                <a:latin typeface="方正仿宋_GB2312" panose="02000000000000000000" charset="-122"/>
                <a:ea typeface="方正仿宋_GB2312" panose="02000000000000000000" charset="-122"/>
                <a:cs typeface="Toots Regular" panose="02010600010101010101" charset="-122"/>
              </a:endParaRPr>
            </a:p>
          </p:txBody>
        </p:sp>
        <p:sp>
          <p:nvSpPr>
            <p:cNvPr id="13" name="TextBox 9"/>
            <p:cNvSpPr txBox="1"/>
            <p:nvPr/>
          </p:nvSpPr>
          <p:spPr>
            <a:xfrm>
              <a:off x="4143" y="653"/>
              <a:ext cx="10932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4800" b="1" spc="600" dirty="0" smtClean="0">
                  <a:solidFill>
                    <a:schemeClr val="tx1"/>
                  </a:solidFill>
                  <a:latin typeface="方正明尚简体" panose="02000000000000000000" charset="-122"/>
                  <a:ea typeface="方正明尚简体" panose="02000000000000000000" charset="-122"/>
                  <a:cs typeface="Toots Regular" panose="02010600010101010101" charset="-122"/>
                  <a:sym typeface="方正明尚简体" panose="02000000000000000000" charset="-122"/>
                </a:rPr>
                <a:t>双向队列</a:t>
              </a:r>
              <a:endParaRPr lang="zh-CN" altLang="en-US" sz="4800" b="1" spc="600" dirty="0" smtClean="0">
                <a:solidFill>
                  <a:schemeClr val="tx1"/>
                </a:solidFill>
                <a:latin typeface="方正明尚简体" panose="02000000000000000000" charset="-122"/>
                <a:ea typeface="方正明尚简体" panose="02000000000000000000" charset="-122"/>
                <a:cs typeface="Toots Regular" panose="02010600010101010101" charset="-122"/>
                <a:sym typeface="方正明尚简体" panose="02000000000000000000" charset="-122"/>
              </a:endParaRPr>
            </a:p>
          </p:txBody>
        </p:sp>
        <p:sp>
          <p:nvSpPr>
            <p:cNvPr id="15" name="TextBox 12"/>
            <p:cNvSpPr txBox="1"/>
            <p:nvPr/>
          </p:nvSpPr>
          <p:spPr>
            <a:xfrm>
              <a:off x="5681" y="1618"/>
              <a:ext cx="7856" cy="5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lnSpc>
                  <a:spcPct val="150000"/>
                </a:lnSpc>
              </a:pPr>
              <a:r>
                <a:rPr lang="en-US" altLang="zh-CN" baseline="-25000" dirty="0" smtClean="0">
                  <a:latin typeface="Futura" panose="020B0602020204020303" charset="0"/>
                  <a:ea typeface="Futura" panose="020B0602020204020303" charset="0"/>
                  <a:cs typeface="+mj-lt"/>
                </a:rPr>
                <a:t>Double-ended Queue</a:t>
              </a:r>
              <a:endParaRPr lang="en-US" altLang="zh-CN" baseline="-25000" dirty="0" smtClean="0">
                <a:latin typeface="Futura" panose="020B0602020204020303" charset="0"/>
                <a:ea typeface="Futura" panose="020B0602020204020303" charset="0"/>
                <a:cs typeface="+mj-lt"/>
              </a:endParaRPr>
            </a:p>
          </p:txBody>
        </p:sp>
      </p:grp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1065" y="1670050"/>
            <a:ext cx="4614545" cy="494792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135" y="2621915"/>
            <a:ext cx="6311265" cy="321437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组合 1"/>
          <p:cNvGrpSpPr/>
          <p:nvPr/>
        </p:nvGrpSpPr>
        <p:grpSpPr>
          <a:xfrm>
            <a:off x="2035810" y="582930"/>
            <a:ext cx="8120380" cy="1326515"/>
            <a:chOff x="3206" y="98"/>
            <a:chExt cx="12788" cy="2089"/>
          </a:xfrm>
        </p:grpSpPr>
        <p:sp>
          <p:nvSpPr>
            <p:cNvPr id="3" name="TextBox 8"/>
            <p:cNvSpPr txBox="1"/>
            <p:nvPr/>
          </p:nvSpPr>
          <p:spPr>
            <a:xfrm>
              <a:off x="3206" y="98"/>
              <a:ext cx="12788" cy="1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6000" b="1" spc="600" dirty="0" smtClean="0">
                  <a:solidFill>
                    <a:schemeClr val="bg1">
                      <a:lumMod val="95000"/>
                    </a:schemeClr>
                  </a:solidFill>
                  <a:latin typeface="Arial Black" panose="020B0A04020102020204" charset="0"/>
                  <a:ea typeface="方正仿宋_GB2312" panose="02000000000000000000" charset="-122"/>
                  <a:cs typeface="Arial Black" panose="020B0A04020102020204" charset="0"/>
                  <a:sym typeface="+mn-ea"/>
                </a:rPr>
                <a:t>PROGRAM</a:t>
              </a:r>
              <a:endParaRPr lang="en-US" sz="6000" b="1" spc="600" dirty="0" smtClean="0">
                <a:solidFill>
                  <a:schemeClr val="bg1">
                    <a:lumMod val="95000"/>
                  </a:schemeClr>
                </a:solidFill>
                <a:latin typeface="方正仿宋_GB2312" panose="02000000000000000000" charset="-122"/>
                <a:ea typeface="方正仿宋_GB2312" panose="02000000000000000000" charset="-122"/>
                <a:cs typeface="Toots Regular" panose="02010600010101010101" charset="-122"/>
              </a:endParaRPr>
            </a:p>
          </p:txBody>
        </p:sp>
        <p:sp>
          <p:nvSpPr>
            <p:cNvPr id="24" name="TextBox 9"/>
            <p:cNvSpPr txBox="1"/>
            <p:nvPr/>
          </p:nvSpPr>
          <p:spPr>
            <a:xfrm>
              <a:off x="4143" y="653"/>
              <a:ext cx="10932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4800" b="1" spc="600" dirty="0" smtClean="0">
                  <a:solidFill>
                    <a:schemeClr val="tx1"/>
                  </a:solidFill>
                  <a:latin typeface="方正明尚简体" panose="02000000000000000000" charset="-122"/>
                  <a:ea typeface="方正明尚简体" panose="02000000000000000000" charset="-122"/>
                  <a:cs typeface="Toots Regular" panose="02010600010101010101" charset="-122"/>
                  <a:sym typeface="方正明尚简体" panose="02000000000000000000" charset="-122"/>
                </a:rPr>
                <a:t>习题</a:t>
              </a:r>
              <a:endParaRPr lang="zh-CN" altLang="en-US" sz="4800" b="1" spc="600" dirty="0" smtClean="0">
                <a:solidFill>
                  <a:schemeClr val="tx1"/>
                </a:solidFill>
                <a:latin typeface="方正明尚简体" panose="02000000000000000000" charset="-122"/>
                <a:ea typeface="方正明尚简体" panose="02000000000000000000" charset="-122"/>
                <a:cs typeface="Toots Regular" panose="02010600010101010101" charset="-122"/>
                <a:sym typeface="方正明尚简体" panose="02000000000000000000" charset="-122"/>
              </a:endParaRPr>
            </a:p>
          </p:txBody>
        </p:sp>
        <p:sp>
          <p:nvSpPr>
            <p:cNvPr id="25" name="TextBox 12"/>
            <p:cNvSpPr txBox="1"/>
            <p:nvPr/>
          </p:nvSpPr>
          <p:spPr>
            <a:xfrm>
              <a:off x="5681" y="1618"/>
              <a:ext cx="7856" cy="5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lnSpc>
                  <a:spcPct val="150000"/>
                </a:lnSpc>
              </a:pPr>
              <a:r>
                <a:rPr lang="en-US" baseline="-25000" dirty="0" smtClean="0">
                  <a:latin typeface="Futura" panose="020B0602020204020303" charset="0"/>
                  <a:ea typeface="Futura" panose="020B0602020204020303" charset="0"/>
                  <a:cs typeface="+mj-lt"/>
                </a:rPr>
                <a:t>Practice</a:t>
              </a:r>
              <a:endParaRPr lang="en-US" baseline="-25000" dirty="0" smtClean="0">
                <a:latin typeface="Futura" panose="020B0602020204020303" charset="0"/>
                <a:ea typeface="Futura" panose="020B0602020204020303" charset="0"/>
                <a:cs typeface="+mj-lt"/>
              </a:endParaRPr>
            </a:p>
          </p:txBody>
        </p:sp>
      </p:grp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30805" y="2125345"/>
            <a:ext cx="7077075" cy="380111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3089910" y="6058535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zh-CN" sz="2400">
                <a:latin typeface="华文仿宋" panose="02010600040101010101" charset="-122"/>
                <a:ea typeface="华文仿宋" panose="02010600040101010101" charset="-122"/>
                <a:hlinkClick r:id="rId2" action="ppaction://hlinkfile"/>
              </a:rPr>
              <a:t>L2 Practice</a:t>
            </a:r>
            <a:endParaRPr lang="en-US" altLang="zh-CN" sz="2400">
              <a:latin typeface="华文仿宋" panose="02010600040101010101" charset="-122"/>
              <a:ea typeface="华文仿宋" panose="0201060004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8"/>
          <p:cNvSpPr txBox="1"/>
          <p:nvPr/>
        </p:nvSpPr>
        <p:spPr>
          <a:xfrm>
            <a:off x="-352107" y="1497217"/>
            <a:ext cx="12896215" cy="19221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900" b="1" spc="600" dirty="0" smtClean="0">
                <a:solidFill>
                  <a:schemeClr val="bg1">
                    <a:lumMod val="95000"/>
                  </a:schemeClr>
                </a:solidFill>
                <a:latin typeface="Arial Black" panose="020B0A04020102020204" charset="0"/>
                <a:ea typeface="方正仿宋_GB2312" panose="02000000000000000000" charset="-122"/>
                <a:cs typeface="Arial Black" panose="020B0A04020102020204" charset="0"/>
              </a:rPr>
              <a:t>PROGRAM</a:t>
            </a:r>
            <a:endParaRPr lang="en-US" sz="11900" b="1" spc="600" dirty="0" smtClean="0">
              <a:solidFill>
                <a:schemeClr val="bg1">
                  <a:lumMod val="95000"/>
                </a:schemeClr>
              </a:solidFill>
              <a:latin typeface="Arial Black" panose="020B0A04020102020204" charset="0"/>
              <a:ea typeface="方正仿宋_GB2312" panose="02000000000000000000" charset="-122"/>
              <a:cs typeface="Arial Black" panose="020B0A0402010202020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630577" y="2306842"/>
            <a:ext cx="6941730" cy="1930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1950" b="1" spc="600" dirty="0" smtClean="0">
                <a:solidFill>
                  <a:schemeClr val="tx1"/>
                </a:solidFill>
                <a:latin typeface="方正明尚简体" panose="02000000000000000000" charset="-122"/>
                <a:ea typeface="方正明尚简体" panose="02000000000000000000" charset="-122"/>
                <a:cs typeface="Toots Regular" panose="02010600010101010101" charset="-122"/>
                <a:sym typeface="方正明尚简体" panose="02000000000000000000" charset="-122"/>
              </a:rPr>
              <a:t>Q&amp;A</a:t>
            </a:r>
            <a:endParaRPr lang="en-US" altLang="zh-CN" sz="11950" b="1" spc="600" dirty="0" smtClean="0">
              <a:solidFill>
                <a:schemeClr val="tx1"/>
              </a:solidFill>
              <a:latin typeface="方正明尚简体" panose="02000000000000000000" charset="-122"/>
              <a:ea typeface="方正明尚简体" panose="02000000000000000000" charset="-122"/>
              <a:cs typeface="Toots Regular" panose="02010600010101010101" charset="-122"/>
              <a:sym typeface="方正明尚简体" panose="02000000000000000000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607261" y="3770641"/>
            <a:ext cx="4988364" cy="6311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600" baseline="-25000" dirty="0" smtClean="0">
                <a:latin typeface="Futura" panose="020B0602020204020303" charset="0"/>
                <a:ea typeface="Futura" panose="020B0602020204020303" charset="0"/>
                <a:cs typeface="+mj-lt"/>
              </a:rPr>
              <a:t>Q&amp;A</a:t>
            </a:r>
            <a:endParaRPr lang="en-US" sz="3600" baseline="-25000" dirty="0" smtClean="0">
              <a:latin typeface="Futura" panose="020B0602020204020303" charset="0"/>
              <a:ea typeface="Futura" panose="020B0602020204020303" charset="0"/>
              <a:cs typeface="+mj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9928225" y="6118225"/>
            <a:ext cx="1958975" cy="3968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en-US" altLang="zh-CN" sz="2000" i="1">
                <a:solidFill>
                  <a:schemeClr val="bg1">
                    <a:lumMod val="50000"/>
                  </a:schemeClr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  <a:hlinkClick r:id="rId1" action="ppaction://hlinkfile"/>
              </a:rPr>
              <a:t>Hello </a:t>
            </a:r>
            <a:r>
              <a:rPr lang="zh-CN" altLang="en-US" sz="2000" i="1">
                <a:solidFill>
                  <a:schemeClr val="bg1">
                    <a:lumMod val="50000"/>
                  </a:schemeClr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  <a:hlinkClick r:id="rId1" action="ppaction://hlinkfile"/>
              </a:rPr>
              <a:t>算法</a:t>
            </a:r>
            <a:endParaRPr lang="zh-CN" altLang="en-US" sz="2000" i="1">
              <a:solidFill>
                <a:schemeClr val="bg1">
                  <a:lumMod val="50000"/>
                </a:schemeClr>
              </a:solidFill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DIAGRAM_VIRTUALLY_FRAME" val="{&quot;height&quot;:261.7,&quot;left&quot;:100.9,&quot;top&quot;:184.65,&quot;width&quot;:777.4}"/>
</p:tagLst>
</file>

<file path=ppt/tags/tag2.xml><?xml version="1.0" encoding="utf-8"?>
<p:tagLst xmlns:p="http://schemas.openxmlformats.org/presentationml/2006/main">
  <p:tag name="KSO_WM_DIAGRAM_VIRTUALLY_FRAME" val="{&quot;height&quot;:261.7,&quot;left&quot;:100.9,&quot;top&quot;:184.65,&quot;width&quot;:777.4}"/>
</p:tagLst>
</file>

<file path=ppt/tags/tag3.xml><?xml version="1.0" encoding="utf-8"?>
<p:tagLst xmlns:p="http://schemas.openxmlformats.org/presentationml/2006/main">
  <p:tag name="KSO_WM_DIAGRAM_VIRTUALLY_FRAME" val="{&quot;height&quot;:261.7,&quot;left&quot;:100.9,&quot;top&quot;:184.65,&quot;width&quot;:777.4}"/>
</p:tagLst>
</file>

<file path=ppt/tags/tag4.xml><?xml version="1.0" encoding="utf-8"?>
<p:tagLst xmlns:p="http://schemas.openxmlformats.org/presentationml/2006/main">
  <p:tag name="KSO_WM_DIAGRAM_VIRTUALLY_FRAME" val="{&quot;height&quot;:261.7,&quot;left&quot;:100.9,&quot;top&quot;:184.65,&quot;width&quot;:777.4}"/>
</p:tagLst>
</file>

<file path=ppt/tags/tag5.xml><?xml version="1.0" encoding="utf-8"?>
<p:tagLst xmlns:p="http://schemas.openxmlformats.org/presentationml/2006/main">
  <p:tag name="KSO_WM_DIAGRAM_VIRTUALLY_FRAME" val="{&quot;height&quot;:261.7,&quot;left&quot;:100.9,&quot;top&quot;:184.65,&quot;width&quot;:777.4}"/>
</p:tagLst>
</file>

<file path=ppt/tags/tag6.xml><?xml version="1.0" encoding="utf-8"?>
<p:tagLst xmlns:p="http://schemas.openxmlformats.org/presentationml/2006/main">
  <p:tag name="KSO_WM_DIAGRAM_VIRTUALLY_FRAME" val="{&quot;height&quot;:261.7,&quot;left&quot;:100.9,&quot;top&quot;:184.65,&quot;width&quot;:777.4}"/>
</p:tagLst>
</file>

<file path=ppt/tags/tag7.xml><?xml version="1.0" encoding="utf-8"?>
<p:tagLst xmlns:p="http://schemas.openxmlformats.org/presentationml/2006/main">
  <p:tag name="KSO_WM_DIAGRAM_VIRTUALLY_FRAME" val="{&quot;height&quot;:261.7,&quot;left&quot;:100.9,&quot;top&quot;:184.65,&quot;width&quot;:777.4}"/>
</p:tagLst>
</file>

<file path=ppt/tags/tag8.xml><?xml version="1.0" encoding="utf-8"?>
<p:tagLst xmlns:p="http://schemas.openxmlformats.org/presentationml/2006/main">
  <p:tag name="KSO_WM_DIAGRAM_VIRTUALLY_FRAME" val="{&quot;height&quot;:261.7,&quot;left&quot;:100.9,&quot;top&quot;:184.65,&quot;width&quot;:777.4}"/>
</p:tagLst>
</file>

<file path=ppt/tags/tag9.xml><?xml version="1.0" encoding="utf-8"?>
<p:tagLst xmlns:p="http://schemas.openxmlformats.org/presentationml/2006/main">
  <p:tag name="KSO_WM_DIAGRAM_VIRTUALLY_FRAME" val="{&quot;height&quot;:261.7,&quot;left&quot;:100.9,&quot;top&quot;:184.65,&quot;width&quot;:777.4}"/>
</p:tagLst>
</file>

<file path=ppt/tags/tag10.xml><?xml version="1.0" encoding="utf-8"?>
<p:tagLst xmlns:p="http://schemas.openxmlformats.org/presentationml/2006/main">
  <p:tag name="KSO_WM_DIAGRAM_VIRTUALLY_FRAME" val="{&quot;height&quot;:261.7,&quot;left&quot;:100.9,&quot;top&quot;:184.65,&quot;width&quot;:777.4}"/>
</p:tagLst>
</file>

<file path=ppt/tags/tag11.xml><?xml version="1.0" encoding="utf-8"?>
<p:tagLst xmlns:p="http://schemas.openxmlformats.org/presentationml/2006/main">
  <p:tag name="KSO_WM_DIAGRAM_VIRTUALLY_FRAME" val="{&quot;height&quot;:261.7,&quot;left&quot;:100.9,&quot;top&quot;:184.65,&quot;width&quot;:777.4}"/>
</p:tagLst>
</file>

<file path=ppt/tags/tag12.xml><?xml version="1.0" encoding="utf-8"?>
<p:tagLst xmlns:p="http://schemas.openxmlformats.org/presentationml/2006/main">
  <p:tag name="KSO_WM_DIAGRAM_VIRTUALLY_FRAME" val="{&quot;height&quot;:261.7,&quot;left&quot;:100.9,&quot;top&quot;:184.65,&quot;width&quot;:777.4}"/>
</p:tagLst>
</file>

<file path=ppt/tags/tag13.xml><?xml version="1.0" encoding="utf-8"?>
<p:tagLst xmlns:p="http://schemas.openxmlformats.org/presentationml/2006/main">
  <p:tag name="KSO_WM_DIAGRAM_VIRTUALLY_FRAME" val="{&quot;height&quot;:261.7,&quot;left&quot;:100.9,&quot;top&quot;:184.65,&quot;width&quot;:777.4}"/>
</p:tagLst>
</file>

<file path=ppt/tags/tag14.xml><?xml version="1.0" encoding="utf-8"?>
<p:tagLst xmlns:p="http://schemas.openxmlformats.org/presentationml/2006/main">
  <p:tag name="KSO_WM_DIAGRAM_VIRTUALLY_FRAME" val="{&quot;height&quot;:261.7,&quot;left&quot;:100.9,&quot;top&quot;:184.65,&quot;width&quot;:777.4}"/>
</p:tagLst>
</file>

<file path=ppt/tags/tag15.xml><?xml version="1.0" encoding="utf-8"?>
<p:tagLst xmlns:p="http://schemas.openxmlformats.org/presentationml/2006/main">
  <p:tag name="KSO_WM_DIAGRAM_VIRTUALLY_FRAME" val="{&quot;height&quot;:261.7,&quot;left&quot;:100.9,&quot;top&quot;:184.65,&quot;width&quot;:777.4}"/>
</p:tagLst>
</file>

<file path=ppt/theme/theme1.xml><?xml version="1.0" encoding="utf-8"?>
<a:theme xmlns:a="http://schemas.openxmlformats.org/drawingml/2006/main" name="Office Theme 0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1007</Words>
  <Application>WPS 演示</Application>
  <PresentationFormat>Widescreen</PresentationFormat>
  <Paragraphs>236</Paragraphs>
  <Slides>20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44" baseType="lpstr">
      <vt:lpstr>Arial</vt:lpstr>
      <vt:lpstr>宋体</vt:lpstr>
      <vt:lpstr>Wingdings</vt:lpstr>
      <vt:lpstr>Arial Black</vt:lpstr>
      <vt:lpstr>方正仿宋_GB2312</vt:lpstr>
      <vt:lpstr>方正明尚简体</vt:lpstr>
      <vt:lpstr>Toots Regular</vt:lpstr>
      <vt:lpstr>华文中宋</vt:lpstr>
      <vt:lpstr>华文仿宋</vt:lpstr>
      <vt:lpstr>Futura</vt:lpstr>
      <vt:lpstr>黑体</vt:lpstr>
      <vt:lpstr>汉仪中黑KW</vt:lpstr>
      <vt:lpstr>Arial</vt:lpstr>
      <vt:lpstr>华文楷体</vt:lpstr>
      <vt:lpstr>微软雅黑</vt:lpstr>
      <vt:lpstr>汉仪旗黑</vt:lpstr>
      <vt:lpstr>Calibri</vt:lpstr>
      <vt:lpstr>Helvetica Neue</vt:lpstr>
      <vt:lpstr>Calibri Light</vt:lpstr>
      <vt:lpstr>汉仪书宋二KW</vt:lpstr>
      <vt:lpstr>宋体</vt:lpstr>
      <vt:lpstr>Arial Unicode MS</vt:lpstr>
      <vt:lpstr>黑体</vt:lpstr>
      <vt:lpstr>Office Theme 01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pt1</dc:creator>
  <cp:lastModifiedBy>Walker</cp:lastModifiedBy>
  <cp:revision>898</cp:revision>
  <dcterms:created xsi:type="dcterms:W3CDTF">2026-04-11T11:10:51Z</dcterms:created>
  <dcterms:modified xsi:type="dcterms:W3CDTF">2026-04-11T11:10:51Z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2052-12.1.25205.25205</vt:lpwstr>
  </property>
  <property fmtid="{D5CDD505-2E9C-101B-9397-08002B2CF9AE}" pid="3" name="KSORubyTemplateID">
    <vt:lpwstr>13</vt:lpwstr>
  </property>
  <property fmtid="{D5CDD505-2E9C-101B-9397-08002B2CF9AE}" pid="4" name="KSOTemplateUUID">
    <vt:lpwstr>v1.0_mb_XhNDLR8EZd3zD8bI3G2sWQ==</vt:lpwstr>
  </property>
  <property fmtid="{D5CDD505-2E9C-101B-9397-08002B2CF9AE}" pid="5" name="ICV">
    <vt:lpwstr>B5687B43AFCF4D5A8628A32E28488E81_11</vt:lpwstr>
  </property>
</Properties>
</file>
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338" r:id="rId3"/>
    <p:sldId id="341" r:id="rId5"/>
    <p:sldId id="362" r:id="rId6"/>
    <p:sldId id="372" r:id="rId7"/>
    <p:sldId id="373" r:id="rId8"/>
    <p:sldId id="374" r:id="rId9"/>
    <p:sldId id="395" r:id="rId10"/>
    <p:sldId id="375" r:id="rId11"/>
    <p:sldId id="370" r:id="rId12"/>
    <p:sldId id="376" r:id="rId13"/>
    <p:sldId id="385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8" r:id="rId22"/>
    <p:sldId id="409" r:id="rId23"/>
    <p:sldId id="407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371" r:id="rId39"/>
    <p:sldId id="35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878783"/>
    <a:srgbClr val="E0E0E0"/>
    <a:srgbClr val="FDFDFD"/>
    <a:srgbClr val="1C75BC"/>
    <a:srgbClr val="BCBEC0"/>
    <a:srgbClr val="1F6108"/>
    <a:srgbClr val="26700A"/>
    <a:srgbClr val="1A5A08"/>
    <a:srgbClr val="5B5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4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30" y="384"/>
      </p:cViewPr>
      <p:guideLst>
        <p:guide orient="horz" pos="10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908"/>
    </p:cViewPr>
  </p:sorterViewPr>
  <p:notesViewPr>
    <p:cSldViewPr snapToGrid="0">
      <p:cViewPr varScale="1">
        <p:scale>
          <a:sx n="83" d="100"/>
          <a:sy n="83" d="100"/>
        </p:scale>
        <p:origin x="382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commentAuthors" Target="commentAuthors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CF35C-D8B4-40CD-AC4B-EB87F13805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D243B-FFB1-446E-9114-40ACCD7DCC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604B2-0104-47E2-A454-F16A8221FE5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49D33-5D85-48A9-B874-2732B52B07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-01"/>
          <p:cNvPicPr>
            <a:picLocks noChangeAspect="1"/>
          </p:cNvPicPr>
          <p:nvPr userDrawn="1"/>
        </p:nvPicPr>
        <p:blipFill>
          <a:blip r:embed="rId2"/>
          <a:srcRect t="15612"/>
          <a:stretch>
            <a:fillRect/>
          </a:stretch>
        </p:blipFill>
        <p:spPr>
          <a:xfrm>
            <a:off x="-9525" y="-15875"/>
            <a:ext cx="12197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98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flipH="1">
            <a:off x="190690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>
            <a:off x="5913755" y="-190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V="1">
            <a:off x="-5080" y="2533015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>
            <a:off x="-5080" y="-63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 flipV="1">
            <a:off x="5908040" y="2533650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openxmlformats.org/officeDocument/2006/relationships/hyperlink" Target="http://xlxxsjjg.openjudge.cn/2025midtest/" TargetMode="Externa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www.runoob.com/python3/python3-keyword.html&#13;" TargetMode="Externa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tags" Target="../tags/tag15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17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8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9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20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21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2.png"/><Relationship Id="rId1" Type="http://schemas.openxmlformats.org/officeDocument/2006/relationships/tags" Target="../tags/tag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3.png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4.png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5.png"/><Relationship Id="rId1" Type="http://schemas.openxmlformats.org/officeDocument/2006/relationships/tags" Target="../tags/tag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6.png"/><Relationship Id="rId1" Type="http://schemas.openxmlformats.org/officeDocument/2006/relationships/tags" Target="../tags/tag2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7.png"/><Relationship Id="rId1" Type="http://schemas.openxmlformats.org/officeDocument/2006/relationships/tags" Target="../tags/tag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8.png"/><Relationship Id="rId1" Type="http://schemas.openxmlformats.org/officeDocument/2006/relationships/tags" Target="../tags/tag2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59.png"/><Relationship Id="rId1" Type="http://schemas.openxmlformats.org/officeDocument/2006/relationships/tags" Target="../tags/tag29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hyperlink" Target="https://www.bilibili.com/video/BV1AY4y157yL/?spm_id_from=333.337.search-card.all.click&amp;vd_source=c570a3680f3e6de88864469ae073952a&#13;" TargetMode="External"/><Relationship Id="rId2" Type="http://schemas.openxmlformats.org/officeDocument/2006/relationships/image" Target="../media/image60.png"/><Relationship Id="rId1" Type="http://schemas.openxmlformats.org/officeDocument/2006/relationships/hyperlink" Target="https://www.bilibili.com/video/BV1AY4y157yL/?spm_id_from=333.337.search-card.all.click&amp;vd_source=c570a3680f3e6de88864469ae073952a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hyperlink" Target="https://www.hello-alg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5300" y="2306955"/>
            <a:ext cx="823214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DSA</a:t>
            </a:r>
            <a:r>
              <a:rPr lang="zh-CN" altLang="en-US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小班课</a:t>
            </a:r>
            <a:endParaRPr lang="zh-CN" altLang="en-US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059566"/>
            <a:ext cx="4988364" cy="75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个人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介绍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Self Introduction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5" name="图片 4" descr="avata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890" y="2407285"/>
            <a:ext cx="2953385" cy="29533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7"/>
          <p:cNvSpPr txBox="1"/>
          <p:nvPr>
            <p:custDataLst>
              <p:tags r:id="rId2"/>
            </p:custDataLst>
          </p:nvPr>
        </p:nvSpPr>
        <p:spPr>
          <a:xfrm>
            <a:off x="5180330" y="2183765"/>
            <a:ext cx="6292850" cy="335343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p>
            <a:pPr algn="l">
              <a:lnSpc>
                <a:spcPct val="140000"/>
              </a:lnSpc>
            </a:pPr>
            <a:r>
              <a:rPr lang="zh-CN" altLang="en-US" sz="36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常欣海</a:t>
            </a:r>
            <a:endParaRPr lang="zh-CN" altLang="en-US" sz="36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  <a:sym typeface="+mn-ea"/>
              </a:rPr>
              <a:t>大四年级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  <a:sym typeface="+mn-ea"/>
              </a:rPr>
              <a:t>  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元培学院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 </a:t>
            </a:r>
            <a:endParaRPr lang="en-US" altLang="zh-CN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数据科学与大数据技术</a:t>
            </a:r>
            <a:endParaRPr lang="zh-CN" altLang="en-US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endParaRPr lang="zh-CN" altLang="en-US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2024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秋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 ICS 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小班助教</a:t>
            </a:r>
            <a:endParaRPr lang="zh-CN" altLang="en-US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2025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秋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 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计算概论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(B)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，计算概论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(C) 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课程助教</a:t>
            </a:r>
            <a:endParaRPr lang="zh-CN" altLang="en-US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  <a:p>
            <a:pPr algn="l">
              <a:lnSpc>
                <a:spcPct val="110000"/>
              </a:lnSpc>
            </a:pP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2025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秋</a:t>
            </a:r>
            <a:r>
              <a:rPr lang="en-US" altLang="zh-CN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 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小班课</a:t>
            </a:r>
            <a:r>
              <a:rPr lang="zh-CN" altLang="en-US" sz="2400" dirty="0">
                <a:latin typeface="黑体" panose="02010600030101010101" charset="-122"/>
                <a:ea typeface="黑体" panose="02010600030101010101" charset="-122"/>
                <a:cs typeface="黑体" panose="02010600030101010101" charset="-122"/>
              </a:rPr>
              <a:t>讲师</a:t>
            </a:r>
            <a:endParaRPr lang="zh-CN" altLang="en-US" sz="2400" dirty="0">
              <a:latin typeface="黑体" panose="02010600030101010101" charset="-122"/>
              <a:ea typeface="黑体" panose="02010600030101010101" charset="-122"/>
              <a:cs typeface="黑体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教学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计划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Course Syllabus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595" y="1909445"/>
            <a:ext cx="8954135" cy="4732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教学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计划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Course Syllabus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985520" y="159766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zh-CN" altLang="en-US" sz="2400" b="1" dirty="0">
                <a:latin typeface="黑体" panose="02010600030101010101" charset="-122"/>
                <a:ea typeface="黑体" panose="02010600030101010101" charset="-122"/>
                <a:cs typeface="Elephant" panose="02020904090505020303" charset="0"/>
              </a:rPr>
              <a:t>上机考试</a:t>
            </a:r>
            <a:endParaRPr lang="zh-CN" altLang="en-US" sz="2400" b="1" dirty="0">
              <a:latin typeface="黑体" panose="02010600030101010101" charset="-122"/>
              <a:ea typeface="黑体" panose="02010600030101010101" charset="-122"/>
              <a:cs typeface="Elephant" panose="02020904090505020303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7440" y="6059805"/>
            <a:ext cx="4431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i="1">
                <a:solidFill>
                  <a:schemeClr val="tx1">
                    <a:lumMod val="50000"/>
                    <a:lumOff val="50000"/>
                  </a:schemeClr>
                </a:solidFill>
                <a:ea typeface="华文仿宋" panose="02010600040101010101" charset="-122"/>
                <a:cs typeface="+mn-lt"/>
                <a:sym typeface="+mn-ea"/>
                <a:hlinkClick r:id="rId2"/>
              </a:rPr>
              <a:t>http://xlxxsjjg.openjudge.cn/2025midtest/</a:t>
            </a:r>
            <a:endParaRPr lang="en-US" altLang="zh-CN" i="1">
              <a:solidFill>
                <a:schemeClr val="tx1">
                  <a:lumMod val="50000"/>
                  <a:lumOff val="50000"/>
                </a:schemeClr>
              </a:solidFill>
              <a:ea typeface="华文仿宋" panose="02010600040101010101" charset="-122"/>
              <a:cs typeface="+mn-lt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296160"/>
            <a:ext cx="5094605" cy="35255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10605" y="2628900"/>
            <a:ext cx="5783580" cy="3192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A：数组模拟、逆序输出。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B：贪心观察、双指针</a:t>
            </a:r>
            <a:r>
              <a:rPr lang="en-US" altLang="zh-CN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/</a:t>
            </a: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线性遍历</a:t>
            </a: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C：KMP 前缀函数、最短循环节。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D：树形 DP、背包合并。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E：邮局问题、区间 DP、中位数最优。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F：栈模拟、变量作用域、复杂度判断。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G：数独回溯、启发式搜索、剪枝。</a:t>
            </a:r>
            <a:endParaRPr lang="zh-CN" altLang="en-US" sz="24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教学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计划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Course Syllabus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985520" y="159766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r>
              <a:rPr lang="zh-CN" altLang="en-US" sz="2400" b="1" dirty="0">
                <a:latin typeface="黑体" panose="02010600030101010101" charset="-122"/>
                <a:ea typeface="黑体" panose="02010600030101010101" charset="-122"/>
                <a:cs typeface="Elephant" panose="02020904090505020303" charset="0"/>
              </a:rPr>
              <a:t>笔试考试</a:t>
            </a:r>
            <a:endParaRPr lang="zh-CN" altLang="en-US" sz="2400" b="1" dirty="0">
              <a:latin typeface="黑体" panose="02010600030101010101" charset="-122"/>
              <a:ea typeface="黑体" panose="02010600030101010101" charset="-122"/>
              <a:cs typeface="Elephant" panose="02020904090505020303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39660" y="3079750"/>
            <a:ext cx="4143375" cy="2268220"/>
          </a:xfrm>
          <a:prstGeom prst="rect">
            <a:avLst/>
          </a:prstGeom>
        </p:spPr>
        <p:txBody>
          <a:bodyPr wrap="square">
            <a:noAutofit/>
          </a:bodyPr>
          <a:p>
            <a:pPr lvl="0" algn="l"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选择题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15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题，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30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分</a:t>
            </a:r>
            <a:endParaRPr lang="zh-CN" altLang="en-US" sz="28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判断题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10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题，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10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分</a:t>
            </a:r>
            <a:endParaRPr lang="zh-CN" altLang="en-US" sz="28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填空题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10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题，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20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分</a:t>
            </a:r>
            <a:endParaRPr lang="zh-CN" altLang="en-US" sz="28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简答题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3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题，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14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分</a:t>
            </a:r>
            <a:endParaRPr lang="zh-CN" altLang="en-US" sz="28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800" b="1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算法填空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：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4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题，</a:t>
            </a:r>
            <a:r>
              <a:rPr lang="en-US" altLang="zh-CN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26 </a:t>
            </a:r>
            <a:r>
              <a:rPr lang="zh-CN" altLang="en-US" sz="28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分</a:t>
            </a:r>
            <a:endParaRPr lang="zh-CN" altLang="en-US" sz="28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35" y="2331085"/>
            <a:ext cx="6144260" cy="3882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一些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建议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Some Suggestions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861945" y="4479290"/>
            <a:ext cx="70688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基础知识：考察背诵能力，想要理解可以参考</a:t>
            </a:r>
            <a:r>
              <a:rPr lang="en-US" altLang="zh-CN" sz="200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B</a:t>
            </a:r>
            <a:r>
              <a:rPr lang="zh-CN" altLang="en-US" sz="200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站大学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342900" indent="-342900">
              <a:buAutoNum type="arabicPeriod"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编程思维：合理利用</a:t>
            </a:r>
            <a:r>
              <a:rPr lang="en-US" altLang="zh-CN" sz="200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AI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，一定要用，但要用到</a:t>
            </a: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明白</a:t>
            </a: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”</a:t>
            </a:r>
            <a:endParaRPr lang="en-US" altLang="zh-CN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342900" indent="-342900">
              <a:buAutoNum type="arabicPeriod"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编程能力：一定要多练、多写、多总结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800100" lvl="1" indent="-342900">
              <a:buAutoNum type="arabicPeriod"/>
            </a:pPr>
            <a:r>
              <a:rPr lang="en-US" altLang="zh-CN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OJ</a:t>
            </a:r>
            <a:r>
              <a:rPr lang="zh-CN" altLang="en-US" sz="2000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课程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小组中的自由练习题目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800100" lvl="1" indent="-342900">
              <a:buAutoNum type="arabicPeriod"/>
            </a:pPr>
            <a:r>
              <a:rPr lang="en-US" altLang="zh-CN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OJ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其他小组同阶段的题目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800100" lvl="1" indent="-342900">
              <a:buAutoNum type="arabicPeriod"/>
            </a:pP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学会使用</a:t>
            </a:r>
            <a:r>
              <a:rPr lang="en-US" altLang="zh-CN" sz="200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debug</a:t>
            </a:r>
            <a:r>
              <a:rPr lang="zh-CN" altLang="en-US" sz="2000">
                <a:solidFill>
                  <a:srgbClr val="FF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模式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进行代码</a:t>
            </a:r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调试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690" y="2245360"/>
            <a:ext cx="3713480" cy="19634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270" y="2466340"/>
            <a:ext cx="4015740" cy="14033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120" y="2294890"/>
            <a:ext cx="3668395" cy="1962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一些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建议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Some Suggestion</a:t>
              </a: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29745"/>
          <a:stretch>
            <a:fillRect/>
          </a:stretch>
        </p:blipFill>
        <p:spPr>
          <a:xfrm>
            <a:off x="3108960" y="2149475"/>
            <a:ext cx="7047230" cy="403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一些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建议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Some Suggestion</a:t>
              </a: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8370" y="1981835"/>
            <a:ext cx="5894705" cy="39681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" y="1849120"/>
            <a:ext cx="4867275" cy="42475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612265" y="6180455"/>
            <a:ext cx="964438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AI 让“写代码”变容易了，但让“定义问题、评估方案、验证结果”变得更重要了。</a:t>
            </a:r>
            <a:endParaRPr lang="zh-CN" altLang="en-US" sz="20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01842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8220" y="1871345"/>
            <a:ext cx="1061720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L1 </a:t>
            </a:r>
            <a:r>
              <a:rPr lang="zh-CN" altLang="en-US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基础</a:t>
            </a:r>
            <a:endParaRPr lang="zh-CN" altLang="en-US" sz="82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  <a:p>
            <a:pPr algn="ctr"/>
            <a:r>
              <a:rPr lang="zh-CN" altLang="en-US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复杂度与线性表</a:t>
            </a:r>
            <a:endParaRPr lang="zh-CN" altLang="en-US" sz="82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486286"/>
            <a:ext cx="4988364" cy="11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2026.03.21</a:t>
            </a:r>
            <a:endParaRPr lang="en-US" altLang="zh-CN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Python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基本语法</a:t>
              </a:r>
              <a:endParaRPr lang="en-US" altLang="zh-CN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Basic Syntax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765300"/>
            <a:ext cx="12700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endParaRPr lang="en-US" altLang="zh-CN" sz="2400" b="1" dirty="0">
              <a:latin typeface="黑体" panose="02010600030101010101" charset="-122"/>
              <a:ea typeface="黑体" panose="02010600030101010101" charset="-122"/>
              <a:cs typeface="Elephant" panose="02020904090505020303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" y="2055495"/>
            <a:ext cx="6873240" cy="44608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210310" y="1366520"/>
            <a:ext cx="1782445" cy="39878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变量</a:t>
            </a:r>
            <a:r>
              <a:rPr lang="zh-CN" altLang="en-US" sz="2400" b="1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与变量</a:t>
            </a:r>
            <a:r>
              <a:rPr lang="zh-CN" altLang="en-US" sz="2400" b="1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命名</a:t>
            </a:r>
            <a:endParaRPr lang="zh-CN" altLang="en-US" sz="2400" b="1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454150" y="2348230"/>
            <a:ext cx="3630930" cy="29400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1454150" y="3636010"/>
            <a:ext cx="2442845" cy="29400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1454150" y="4206240"/>
            <a:ext cx="4923155" cy="29400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270" y="5048885"/>
            <a:ext cx="5409565" cy="118237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6134100" y="6307455"/>
            <a:ext cx="56857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1400" i="1">
                <a:solidFill>
                  <a:schemeClr val="tx1">
                    <a:lumMod val="50000"/>
                    <a:lumOff val="50000"/>
                  </a:schemeClr>
                </a:solidFill>
                <a:ea typeface="华文仿宋" panose="02010600040101010101" charset="-122"/>
                <a:cs typeface="+mn-lt"/>
                <a:sym typeface="+mn-ea"/>
                <a:hlinkClick r:id="rId4" action="ppaction://hlinkfile"/>
              </a:rPr>
              <a:t>https://www.runoob.com/python3/python3-keyword.html</a:t>
            </a:r>
            <a:endParaRPr lang="en-US" altLang="zh-CN" sz="1400" i="1">
              <a:solidFill>
                <a:schemeClr val="tx1">
                  <a:lumMod val="50000"/>
                  <a:lumOff val="50000"/>
                </a:schemeClr>
              </a:solidFill>
              <a:ea typeface="华文仿宋" panose="02010600040101010101" charset="-122"/>
              <a:cs typeface="+mn-lt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r="54429"/>
          <a:stretch>
            <a:fillRect/>
          </a:stretch>
        </p:blipFill>
        <p:spPr>
          <a:xfrm>
            <a:off x="7981315" y="3461385"/>
            <a:ext cx="3373755" cy="1209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1315" y="1765300"/>
            <a:ext cx="1591310" cy="1480185"/>
          </a:xfrm>
          <a:prstGeom prst="rect">
            <a:avLst/>
          </a:prstGeom>
        </p:spPr>
      </p:pic>
      <p:cxnSp>
        <p:nvCxnSpPr>
          <p:cNvPr id="10" name="直接箭头连接符 9"/>
          <p:cNvCxnSpPr>
            <a:stCxn id="20" idx="3"/>
          </p:cNvCxnSpPr>
          <p:nvPr/>
        </p:nvCxnSpPr>
        <p:spPr>
          <a:xfrm flipV="1">
            <a:off x="5085080" y="1962785"/>
            <a:ext cx="2894330" cy="53276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20" idx="3"/>
          </p:cNvCxnSpPr>
          <p:nvPr/>
        </p:nvCxnSpPr>
        <p:spPr>
          <a:xfrm>
            <a:off x="5085080" y="2495550"/>
            <a:ext cx="2926715" cy="12719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22" idx="3"/>
          </p:cNvCxnSpPr>
          <p:nvPr/>
        </p:nvCxnSpPr>
        <p:spPr>
          <a:xfrm>
            <a:off x="6377305" y="4353560"/>
            <a:ext cx="606425" cy="7048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0" grpId="0" animBg="1"/>
      <p:bldP spid="20" grpId="1" animBg="1"/>
      <p:bldP spid="21" grpId="0" animBg="1"/>
      <p:bldP spid="21" grpId="1" animBg="1"/>
      <p:bldP spid="22" grpId="0" animBg="1"/>
      <p:bldP spid="5" grpId="0"/>
      <p:bldP spid="22" grpId="1" animBg="1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算法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99685" y="2120900"/>
            <a:ext cx="2004695" cy="480695"/>
          </a:xfrm>
          <a:prstGeom prst="rect">
            <a:avLst/>
          </a:prstGeom>
        </p:spPr>
        <p:txBody>
          <a:bodyPr wrap="square">
            <a:noAutofit/>
          </a:bodyPr>
          <a:p>
            <a:pPr lvl="0" algn="l">
              <a:buClrTx/>
              <a:buSzTx/>
              <a:buFontTx/>
            </a:pPr>
            <a:endParaRPr lang="zh-CN" altLang="en-US" sz="2000" b="1">
              <a:solidFill>
                <a:srgbClr val="333333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算法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Algori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thm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65300" y="2129155"/>
            <a:ext cx="9698990" cy="17119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算法（</a:t>
            </a:r>
            <a:r>
              <a:rPr lang="en-US" altLang="zh-CN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algorithm</a:t>
            </a:r>
            <a:r>
              <a:rPr lang="zh-CN" altLang="en-US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是在有限时间内解决特定问题的一组指令或操作步骤，它具有以下特性。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问题是明确的，包含清晰的输入和输出定义。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具有可行性，能够在有限步骤、时间和内存空间下完成。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各步骤都有确定的含义，在相同的输入和运行条件下，输出始终相同。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30" y="4060825"/>
            <a:ext cx="4229100" cy="23304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256155" y="6391275"/>
            <a:ext cx="15151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扑克排序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60" y="4010025"/>
            <a:ext cx="3566795" cy="23177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715885" y="6327775"/>
            <a:ext cx="1515745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货币找零</a:t>
            </a:r>
            <a:endParaRPr lang="zh-CN" altLang="en-US" sz="160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320030" y="4372610"/>
            <a:ext cx="504825" cy="17684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b="0" i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插入排序算法</a:t>
            </a:r>
            <a:endParaRPr lang="zh-CN" altLang="en-US" b="0" i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479405" y="4600575"/>
            <a:ext cx="504825" cy="13131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b="0" i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贪心算法</a:t>
            </a:r>
            <a:endParaRPr lang="zh-CN" altLang="en-US" b="0" i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3-21 17.29.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805" y="3075305"/>
            <a:ext cx="4445635" cy="3216910"/>
          </a:xfrm>
          <a:prstGeom prst="rect">
            <a:avLst/>
          </a:prstGeom>
        </p:spPr>
      </p:pic>
      <p:sp>
        <p:nvSpPr>
          <p:cNvPr id="9" name="TextBox 7"/>
          <p:cNvSpPr txBox="1"/>
          <p:nvPr>
            <p:custDataLst>
              <p:tags r:id="rId2"/>
            </p:custDataLst>
          </p:nvPr>
        </p:nvSpPr>
        <p:spPr>
          <a:xfrm>
            <a:off x="1263650" y="1449070"/>
            <a:ext cx="183642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数据结构定义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算法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Algori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thm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24940" y="2305685"/>
            <a:ext cx="10262235" cy="17119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数据结构（</a:t>
            </a:r>
            <a:r>
              <a:rPr lang="en-US" altLang="zh-CN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data structure</a:t>
            </a:r>
            <a:r>
              <a:rPr lang="zh-CN" altLang="en-US" b="0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是组织和存储数据的方式，涵盖数据内容、数据之间关系和数据操作方法。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空间占用尽量少，以节省计算机内存。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数据操作尽可能快速，涵盖数据访问、添加、删除、更新等。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提供简洁的数据表示和逻辑信息，以便算法高效运行。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0070" y="4558030"/>
            <a:ext cx="509333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167005" indent="0">
              <a:spcBef>
                <a:spcPts val="100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zh-CN" altLang="en-US" sz="2400" b="0" i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算法通常可以基于不同的数据结构实现，但执行效率可能相差很大，选择合适的数据结构是关键。</a:t>
            </a:r>
            <a:endParaRPr lang="zh-CN" altLang="en-US" sz="2400" b="0" i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目标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607435" y="215804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设计“既快又省”的数据结构与算法</a:t>
            </a:r>
            <a:endParaRPr lang="zh-CN" altLang="en-US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99895" y="2673350"/>
            <a:ext cx="733869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实际测试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：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难以排除测试环境的干扰因素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；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展开完整测试非常耗费资源</a:t>
            </a:r>
            <a:endParaRPr lang="zh-CN" altLang="en-US" sz="16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9895" y="3072765"/>
            <a:ext cx="94507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理论估算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：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考虑仅通过一些计算来评估算法的效率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；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渐近复杂度分析（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asymptotic complexity analysis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）</a:t>
            </a:r>
            <a:endParaRPr lang="zh-CN" altLang="en-US" sz="16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75790" y="3616325"/>
            <a:ext cx="88893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复杂度分析能够体现算法运行所需的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时间和空间资源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与输入数据规模之间的关系</a:t>
            </a:r>
            <a:r>
              <a:rPr lang="en-US" altLang="zh-CN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。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它描述了随着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输入数据规模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的增加，算法执行所需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时间和空间的增长趋势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  <p:pic>
        <p:nvPicPr>
          <p:cNvPr id="8" name="图片 7" descr="截屏2026-03-21 17.39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895" y="5078730"/>
            <a:ext cx="4597400" cy="952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205" y="4543425"/>
            <a:ext cx="4044950" cy="2075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目标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607435" y="215804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设计“既快又省”的数据结构与算法</a:t>
            </a:r>
            <a:endParaRPr lang="zh-CN" altLang="en-US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99895" y="2673350"/>
            <a:ext cx="733869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实际测试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：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难以排除测试环境的干扰因素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；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展开完整测试非常耗费资源</a:t>
            </a:r>
            <a:endParaRPr lang="zh-CN" altLang="en-US" sz="16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9895" y="3072765"/>
            <a:ext cx="94507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理论估算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：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考虑仅通过一些计算来评估算法的效率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；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渐近复杂度分析（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asymptotic complexity analysis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）</a:t>
            </a:r>
            <a:endParaRPr lang="zh-CN" altLang="en-US" sz="16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75790" y="3616325"/>
            <a:ext cx="88893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1600"/>
              </a:spcBef>
              <a:spcAft>
                <a:spcPts val="600"/>
              </a:spcAft>
            </a:pP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复杂度分析能够体现算法运行所需的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时间和空间资源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与输入数据规模之间的关系</a:t>
            </a:r>
            <a:r>
              <a:rPr lang="en-US" altLang="zh-CN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。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它描述了随着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输入数据规模</a:t>
            </a:r>
            <a:r>
              <a:rPr lang="zh-CN" altLang="en-US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的增加，算法执行所需</a:t>
            </a:r>
            <a:r>
              <a:rPr lang="zh-CN" altLang="en-US" sz="24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sym typeface="+mn-ea"/>
              </a:rPr>
              <a:t>时间和空间的增长趋势</a:t>
            </a:r>
            <a:endParaRPr lang="zh-CN" altLang="en-US" sz="24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  <p:pic>
        <p:nvPicPr>
          <p:cNvPr id="8" name="图片 7" descr="截屏2026-03-21 17.39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815" y="4779010"/>
            <a:ext cx="4597400" cy="9525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445" y="4591050"/>
            <a:ext cx="4044950" cy="2075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8975" y="5913755"/>
            <a:ext cx="680847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平均时间复杂度可以体现算法在随机输入数据下的运行效率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，用</a:t>
            </a:r>
            <a:r>
              <a:rPr lang="en-US" altLang="zh-CN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 Θ </a:t>
            </a:r>
            <a:r>
              <a:rPr lang="zh-CN" altLang="en-US" sz="16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记号</a:t>
            </a:r>
            <a:endParaRPr lang="zh-CN" altLang="en-US" sz="16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05580" y="5581650"/>
            <a:ext cx="153035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1600"/>
              </a:spcBef>
              <a:spcAft>
                <a:spcPts val="800"/>
              </a:spcAft>
            </a:pPr>
            <a:r>
              <a:rPr lang="en-US" altLang="zh-CN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for </a:t>
            </a: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循环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10" y="2575560"/>
            <a:ext cx="520636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340" y="1909445"/>
            <a:ext cx="2908300" cy="4352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829050" y="5581650"/>
            <a:ext cx="170688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1600"/>
              </a:spcBef>
              <a:spcAft>
                <a:spcPts val="800"/>
              </a:spcAft>
            </a:pPr>
            <a:r>
              <a:rPr lang="en-US" altLang="zh-CN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while </a:t>
            </a: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循环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340" y="1909445"/>
            <a:ext cx="2908300" cy="43522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810" y="2334895"/>
            <a:ext cx="4764405" cy="3045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829050" y="5581650"/>
            <a:ext cx="170688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1600"/>
              </a:spcBef>
              <a:spcAft>
                <a:spcPts val="800"/>
              </a:spcAft>
            </a:pP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嵌套循环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035" y="1765300"/>
            <a:ext cx="3673475" cy="46278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270" y="2374900"/>
            <a:ext cx="5322570" cy="304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00555" y="5602605"/>
            <a:ext cx="170688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Bef>
                <a:spcPts val="1600"/>
              </a:spcBef>
              <a:spcAft>
                <a:spcPts val="800"/>
              </a:spcAft>
            </a:pP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调用栈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2774315"/>
            <a:ext cx="3080385" cy="26117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5" y="2080260"/>
            <a:ext cx="7161530" cy="4267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62125" y="5175885"/>
            <a:ext cx="170688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Bef>
                <a:spcPts val="1600"/>
              </a:spcBef>
              <a:spcAft>
                <a:spcPts val="800"/>
              </a:spcAft>
            </a:pP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尾递归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3041015"/>
            <a:ext cx="4122420" cy="1876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535" y="2112645"/>
            <a:ext cx="6809740" cy="4392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迭代与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递归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40535" y="5285740"/>
            <a:ext cx="1706880" cy="460375"/>
          </a:xfrm>
          <a:prstGeom prst="rect">
            <a:avLst/>
          </a:prstGeom>
        </p:spPr>
        <p:txBody>
          <a:bodyPr>
            <a:noAutofit/>
          </a:bodyPr>
          <a:p>
            <a:pPr marL="0" indent="0" algn="ctr">
              <a:spcBef>
                <a:spcPts val="1600"/>
              </a:spcBef>
              <a:spcAft>
                <a:spcPts val="800"/>
              </a:spcAft>
            </a:pPr>
            <a:r>
              <a:rPr lang="zh-CN" altLang="en-US" sz="24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递归树</a:t>
            </a:r>
            <a:endParaRPr lang="zh-CN" altLang="en-US" sz="24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" y="2721610"/>
            <a:ext cx="3843655" cy="2350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535" y="2362835"/>
            <a:ext cx="6807200" cy="3422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37970" y="2153920"/>
            <a:ext cx="934021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时间复杂度分析统计的不是算法运行时间，</a:t>
            </a:r>
            <a:r>
              <a:rPr lang="zh-CN" altLang="en-US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而是</a:t>
            </a:r>
            <a:r>
              <a:rPr lang="zh-CN" altLang="en-US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算法运行时间随着数据量变大时的增长趋势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70" y="2903855"/>
            <a:ext cx="3296920" cy="30245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670" y="2720975"/>
            <a:ext cx="5739130" cy="3441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935" y="2301875"/>
            <a:ext cx="8953500" cy="1473200"/>
          </a:xfrm>
          <a:prstGeom prst="rect">
            <a:avLst/>
          </a:prstGeom>
        </p:spPr>
      </p:pic>
      <p:pic>
        <p:nvPicPr>
          <p:cNvPr id="4" name="图片 3" descr="截屏2026-03-21 17.39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495" y="4543425"/>
            <a:ext cx="4897755" cy="10147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295" y="3775075"/>
            <a:ext cx="5167630" cy="2651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3" name="图片 2" descr="2026-03-21_18-03-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310" y="1903095"/>
            <a:ext cx="3200400" cy="18529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66620" y="3799840"/>
            <a:ext cx="179641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ts val="1600"/>
              </a:spcBef>
              <a:spcAft>
                <a:spcPts val="800"/>
              </a:spcAft>
            </a:pPr>
            <a:r>
              <a:rPr lang="zh-CN" altLang="en-US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常数阶</a:t>
            </a:r>
            <a:endParaRPr lang="en-US" altLang="zh-CN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70" y="1988185"/>
            <a:ext cx="4472940" cy="17437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11925" y="3810635"/>
            <a:ext cx="3745230" cy="348615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spcBef>
                <a:spcPts val="1600"/>
              </a:spcBef>
              <a:spcAft>
                <a:spcPts val="800"/>
              </a:spcAft>
              <a:buClrTx/>
              <a:buSzTx/>
              <a:buFontTx/>
            </a:pPr>
            <a:r>
              <a:rPr lang="zh-CN" altLang="en-US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线性阶</a:t>
            </a:r>
            <a:r>
              <a:rPr lang="zh-CN" altLang="en-US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 </a:t>
            </a:r>
            <a:endParaRPr lang="zh-CN" altLang="en-US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310" y="4284345"/>
            <a:ext cx="3200400" cy="18796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035810" y="6202680"/>
            <a:ext cx="2306955" cy="33909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spcBef>
                <a:spcPts val="1600"/>
              </a:spcBef>
              <a:spcAft>
                <a:spcPts val="800"/>
              </a:spcAft>
              <a:buClrTx/>
              <a:buSzTx/>
              <a:buFontTx/>
            </a:pPr>
            <a:r>
              <a:rPr lang="zh-CN" altLang="en-US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平方阶</a:t>
            </a:r>
            <a:endParaRPr lang="zh-CN" altLang="en-US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620" y="4204335"/>
            <a:ext cx="4026535" cy="20186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265670" y="6268085"/>
            <a:ext cx="2306955" cy="33909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spcBef>
                <a:spcPts val="1600"/>
              </a:spcBef>
              <a:spcAft>
                <a:spcPts val="800"/>
              </a:spcAft>
              <a:buClrTx/>
              <a:buSzTx/>
              <a:buFontTx/>
            </a:pPr>
            <a:r>
              <a:rPr lang="zh-CN" altLang="en-US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指数阶</a:t>
            </a:r>
            <a:endParaRPr lang="zh-CN" altLang="en-US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9" name="TextBox 7"/>
          <p:cNvSpPr txBox="1"/>
          <p:nvPr>
            <p:custDataLst>
              <p:tags r:id="rId5"/>
            </p:custDataLst>
          </p:nvPr>
        </p:nvSpPr>
        <p:spPr>
          <a:xfrm>
            <a:off x="1100455" y="1304925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6555" y="2122170"/>
            <a:ext cx="6385560" cy="38823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261995"/>
            <a:ext cx="4851400" cy="12446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810" y="4698365"/>
            <a:ext cx="1663700" cy="482600"/>
          </a:xfrm>
          <a:prstGeom prst="rect">
            <a:avLst/>
          </a:prstGeom>
        </p:spPr>
      </p:pic>
      <p:sp>
        <p:nvSpPr>
          <p:cNvPr id="17" name="TextBox 7"/>
          <p:cNvSpPr txBox="1"/>
          <p:nvPr>
            <p:custDataLst>
              <p:tags r:id="rId4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560" y="2960370"/>
            <a:ext cx="4624705" cy="18389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685" y="2101215"/>
            <a:ext cx="6360795" cy="41059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30" y="4958715"/>
            <a:ext cx="2082800" cy="520700"/>
          </a:xfrm>
          <a:prstGeom prst="rect">
            <a:avLst/>
          </a:prstGeom>
        </p:spPr>
      </p:pic>
      <p:sp>
        <p:nvSpPr>
          <p:cNvPr id="6" name="TextBox 7"/>
          <p:cNvSpPr txBox="1"/>
          <p:nvPr>
            <p:custDataLst>
              <p:tags r:id="rId4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008880"/>
            <a:ext cx="2603500" cy="50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55" y="2995295"/>
            <a:ext cx="5180330" cy="2013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345" y="2077085"/>
            <a:ext cx="6424295" cy="3778885"/>
          </a:xfrm>
          <a:prstGeom prst="rect">
            <a:avLst/>
          </a:prstGeom>
        </p:spPr>
      </p:pic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复杂度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分析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Complexity Analysis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810" y="5292090"/>
            <a:ext cx="1638300" cy="469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2584450"/>
            <a:ext cx="4705350" cy="25914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375" y="2014855"/>
            <a:ext cx="6598285" cy="4155440"/>
          </a:xfrm>
          <a:prstGeom prst="rect">
            <a:avLst/>
          </a:prstGeom>
        </p:spPr>
      </p:pic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263650" y="1449070"/>
            <a:ext cx="153035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时间复杂度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数据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结构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Data 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Structure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1920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逻辑结构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05" y="2056130"/>
            <a:ext cx="6407785" cy="42856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16000" y="3091815"/>
            <a:ext cx="4639945" cy="1899285"/>
          </a:xfrm>
          <a:prstGeom prst="rect">
            <a:avLst/>
          </a:prstGeom>
        </p:spPr>
        <p:txBody>
          <a:bodyPr wrap="square">
            <a:spAutoFit/>
          </a:bodyPr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线性数据结构：</a:t>
            </a:r>
            <a:endParaRPr lang="zh-CN" altLang="en-US" sz="20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45720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数组、链表、栈、队列、哈希表</a:t>
            </a:r>
            <a:endParaRPr lang="zh-CN" altLang="en-US" sz="20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非线性数据结构：</a:t>
            </a:r>
            <a:endParaRPr lang="zh-CN" altLang="en-US" sz="20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45720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树、堆、图、哈希表。</a:t>
            </a:r>
            <a:endParaRPr lang="zh-CN" altLang="en-US" sz="20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数据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结构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Data 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Structure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物理结构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5660" y="3091815"/>
            <a:ext cx="4639945" cy="2338070"/>
          </a:xfrm>
          <a:prstGeom prst="rect">
            <a:avLst/>
          </a:prstGeom>
        </p:spPr>
        <p:txBody>
          <a:bodyPr wrap="square">
            <a:spAutoFit/>
          </a:bodyPr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基于数组可实现：</a:t>
            </a:r>
            <a:endParaRPr lang="zh-CN" altLang="en-US" sz="20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45720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栈、队列、哈希表、树、堆、图、</a:t>
            </a:r>
            <a:r>
              <a:rPr lang="en-US" altLang="zh-CN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    </a:t>
            </a:r>
            <a:endParaRPr lang="en-US" altLang="zh-CN" sz="20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457200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矩阵、张量</a:t>
            </a:r>
            <a:endParaRPr lang="zh-CN" altLang="en-US" sz="20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基于链表可实现：</a:t>
            </a:r>
            <a:endParaRPr lang="zh-CN" altLang="en-US" sz="20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marL="167005" indent="457200">
              <a:spcBef>
                <a:spcPts val="1000"/>
              </a:spcBef>
              <a:spcAft>
                <a:spcPts val="500"/>
              </a:spcAft>
              <a:buFont typeface="Arial" panose="020B0604020202090204"/>
              <a:buNone/>
            </a:pPr>
            <a:r>
              <a:rPr lang="zh-CN" altLang="en-US" sz="20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</a:rPr>
              <a:t>栈、队列、哈希表、树、堆、图</a:t>
            </a:r>
            <a:endParaRPr lang="zh-CN" altLang="en-US" sz="20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605" y="2068195"/>
            <a:ext cx="6418580" cy="4010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69440" y="5486400"/>
            <a:ext cx="2369185" cy="46037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400" b="0" i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动态数据结构</a:t>
            </a:r>
            <a:endParaRPr lang="zh-CN" altLang="en-US" sz="2400" b="0" i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69440" y="2505710"/>
            <a:ext cx="2369185" cy="46037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sz="2400" b="0" i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静态数据结构</a:t>
            </a:r>
            <a:endParaRPr lang="zh-CN" altLang="en-US" sz="2400" b="0" i="0">
              <a:solidFill>
                <a:srgbClr val="C0000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数据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结构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Data 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Structure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数字编码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60" y="1909445"/>
            <a:ext cx="8890000" cy="4686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数据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结构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Data 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Structure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数字编码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15" y="2037715"/>
            <a:ext cx="8851900" cy="4521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数据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结构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Data </a:t>
              </a: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Structure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字符编码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2098040"/>
            <a:ext cx="7501255" cy="43967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236075" y="2684145"/>
            <a:ext cx="164211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ts val="1600"/>
              </a:spcBef>
              <a:spcAft>
                <a:spcPts val="600"/>
              </a:spcAft>
            </a:pPr>
            <a:r>
              <a:rPr lang="en-US" altLang="zh-CN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ASCII </a:t>
            </a:r>
            <a:r>
              <a:rPr lang="zh-CN" altLang="en-US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字符集</a:t>
            </a:r>
            <a:endParaRPr lang="zh-CN" altLang="en-US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17130" y="3735388"/>
            <a:ext cx="5080000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Bef>
                <a:spcPts val="1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GBK </a:t>
            </a:r>
            <a:r>
              <a:rPr lang="en-US" altLang="zh-CN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字符集</a:t>
            </a:r>
            <a:endParaRPr lang="en-US" altLang="zh-CN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17130" y="4755198"/>
            <a:ext cx="5080000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spcBef>
                <a:spcPts val="1600"/>
              </a:spcBef>
              <a:spcAft>
                <a:spcPts val="600"/>
              </a:spcAft>
              <a:buClrTx/>
              <a:buSzTx/>
              <a:buFontTx/>
            </a:pPr>
            <a:r>
              <a:rPr lang="en-US" altLang="zh-CN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UTF-8 </a:t>
            </a:r>
            <a:r>
              <a:rPr lang="en-US" altLang="zh-CN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编码</a:t>
            </a:r>
            <a:endParaRPr lang="en-US" altLang="zh-CN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线性表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Array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15" y="2336165"/>
            <a:ext cx="6894830" cy="37433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8010" y="2774315"/>
            <a:ext cx="4225925" cy="28663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3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数组（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array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endParaRPr lang="zh-CN" altLang="en-US" sz="28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是一种线性数据结构，其将相同类型的元素存储在连续的内存空间中。我们将元素在数组中的位置称为该元素的索引（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index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线性表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Array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8010" y="2230120"/>
            <a:ext cx="4225925" cy="3528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30000"/>
              </a:lnSpc>
            </a:pPr>
            <a:r>
              <a:rPr lang="zh-CN" altLang="en-US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链表（</a:t>
            </a:r>
            <a:r>
              <a:rPr lang="en-US" altLang="zh-CN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linked list</a:t>
            </a:r>
            <a:r>
              <a:rPr lang="zh-CN" altLang="en-US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endParaRPr lang="zh-CN" altLang="en-US" sz="28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marL="0" indent="0" algn="ctr">
              <a:lnSpc>
                <a:spcPct val="130000"/>
              </a:lnSpc>
            </a:pP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是一种线性数据结构，其中的每个元素都是一个节点对象，各个节点通过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引用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”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相连接。引用记录了下一个节点的内存地址，通过它可以从当前节点访问到下一个节点。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2358390"/>
            <a:ext cx="6563360" cy="3528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线性表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Array</a:t>
              </a:r>
              <a:endParaRPr lang="en-US" altLang="zh-CN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2261235"/>
            <a:ext cx="5216525" cy="4019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45580" y="2859405"/>
            <a:ext cx="5080000" cy="28232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列表（list）</a:t>
            </a:r>
            <a:endParaRPr lang="zh-CN" altLang="en-US" sz="28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是一个抽象的数据结构概念，它表示元素的有序集合，支持元素访问、修改、添加、删除和遍历等操作，无须使用者考虑容量限制的问题。列表可以基于链表或数组实现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习题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Century" panose="02040604050505020304" charset="0"/>
                  <a:ea typeface="Century" panose="02040604050505020304" charset="0"/>
                  <a:cs typeface="+mj-lt"/>
                </a:rPr>
                <a:t>Practice</a:t>
              </a:r>
              <a:endParaRPr lang="en-US" baseline="-25000" dirty="0" smtClean="0">
                <a:latin typeface="Century" panose="02040604050505020304" charset="0"/>
                <a:ea typeface="Century" panose="02040604050505020304" charset="0"/>
                <a:cs typeface="+mj-lt"/>
              </a:endParaRPr>
            </a:p>
          </p:txBody>
        </p:sp>
      </p:grpSp>
      <p:pic>
        <p:nvPicPr>
          <p:cNvPr id="4" name="图片 3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805" y="1997710"/>
            <a:ext cx="6941820" cy="3961130"/>
          </a:xfrm>
          <a:prstGeom prst="rect">
            <a:avLst/>
          </a:prstGeom>
        </p:spPr>
      </p:pic>
      <p:sp>
        <p:nvSpPr>
          <p:cNvPr id="5" name="文本框 4">
            <a:hlinkClick r:id="rId3" action="ppaction://hlinkfile"/>
          </p:cNvPr>
          <p:cNvSpPr txBox="1"/>
          <p:nvPr/>
        </p:nvSpPr>
        <p:spPr>
          <a:xfrm>
            <a:off x="2925445" y="619125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hlinkClick r:id="rId3" action="ppaction://hlinkfile"/>
              </a:rPr>
              <a:t>最浅显易懂的</a:t>
            </a:r>
            <a:r>
              <a:rPr lang="en-US" altLang="zh-CN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hlinkClick r:id="rId3" action="ppaction://hlinkfile"/>
              </a:rPr>
              <a:t>KMP</a:t>
            </a:r>
            <a:r>
              <a:rPr lang="zh-CN" altLang="en-US" sz="20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hlinkClick r:id="rId3" action="ppaction://hlinkfile"/>
              </a:rPr>
              <a:t>算法讲解</a:t>
            </a:r>
            <a:endParaRPr lang="zh-CN" altLang="en-US" sz="20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0577" y="2306842"/>
            <a:ext cx="694173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Q&amp;A</a:t>
            </a:r>
            <a:endParaRPr lang="en-US" altLang="zh-CN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7261" y="3770641"/>
            <a:ext cx="4988364" cy="63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aseline="-25000" dirty="0" smtClean="0">
                <a:latin typeface="Century" panose="02040604050505020304" charset="0"/>
                <a:ea typeface="Century" panose="02040604050505020304" charset="0"/>
                <a:cs typeface="+mj-lt"/>
              </a:rPr>
              <a:t>Q&amp;A</a:t>
            </a:r>
            <a:endParaRPr lang="en-US" sz="3600" baseline="-25000" dirty="0" smtClean="0">
              <a:latin typeface="Century" panose="02040604050505020304" charset="0"/>
              <a:ea typeface="Century" panose="02040604050505020304" charset="0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28225" y="6118225"/>
            <a:ext cx="1958975" cy="396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tooltip="" action="ppaction://hlinkfile"/>
              </a:rPr>
              <a:t>Hello </a:t>
            </a:r>
            <a:r>
              <a:rPr lang="zh-CN" altLang="en-US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tooltip="" action="ppaction://hlinkfile"/>
              </a:rPr>
              <a:t>算法</a:t>
            </a:r>
            <a:endParaRPr lang="zh-CN" altLang="en-US" sz="2000" i="1">
              <a:solidFill>
                <a:schemeClr val="bg1">
                  <a:lumMod val="50000"/>
                </a:schemeClr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48.35,&quot;left&quot;:100.9,&quot;top&quot;:198,&quot;width&quot;:777.4}"/>
</p:tagLst>
</file>

<file path=ppt/tags/tag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heme/theme1.xml><?xml version="1.0" encoding="utf-8"?>
<a:theme xmlns:a="http://schemas.openxmlformats.org/drawingml/2006/main" name="Office Theme 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2747</Words>
  <Application>WPS 演示</Application>
  <PresentationFormat>Widescreen</PresentationFormat>
  <Paragraphs>409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61" baseType="lpstr">
      <vt:lpstr>Arial</vt:lpstr>
      <vt:lpstr>宋体</vt:lpstr>
      <vt:lpstr>Wingdings</vt:lpstr>
      <vt:lpstr>Arial Black</vt:lpstr>
      <vt:lpstr>方正仿宋_GB2312</vt:lpstr>
      <vt:lpstr>方正明尚简体</vt:lpstr>
      <vt:lpstr>Toots Regular</vt:lpstr>
      <vt:lpstr>华文中宋</vt:lpstr>
      <vt:lpstr>Century</vt:lpstr>
      <vt:lpstr>苹方-简</vt:lpstr>
      <vt:lpstr>黑体</vt:lpstr>
      <vt:lpstr>Elephant</vt:lpstr>
      <vt:lpstr>华文仿宋</vt:lpstr>
      <vt:lpstr>微软雅黑</vt:lpstr>
      <vt:lpstr>汉仪旗黑</vt:lpstr>
      <vt:lpstr>Calibri</vt:lpstr>
      <vt:lpstr>Helvetica Neue</vt:lpstr>
      <vt:lpstr>Calibri Light</vt:lpstr>
      <vt:lpstr>汉仪书宋二KW</vt:lpstr>
      <vt:lpstr>宋体</vt:lpstr>
      <vt:lpstr>Arial Unicode MS</vt:lpstr>
      <vt:lpstr>Arial</vt:lpstr>
      <vt:lpstr>华文楷体</vt:lpstr>
      <vt:lpstr>Office Theme 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pt1</dc:creator>
  <cp:lastModifiedBy>Walker</cp:lastModifiedBy>
  <cp:revision>884</cp:revision>
  <dcterms:created xsi:type="dcterms:W3CDTF">2026-03-21T13:45:06Z</dcterms:created>
  <dcterms:modified xsi:type="dcterms:W3CDTF">2026-03-21T13:45:06Z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2052-12.1.25195.25195</vt:lpwstr>
  </property>
  <property fmtid="{D5CDD505-2E9C-101B-9397-08002B2CF9AE}" pid="3" name="KSORubyTemplateID">
    <vt:lpwstr>13</vt:lpwstr>
  </property>
  <property fmtid="{D5CDD505-2E9C-101B-9397-08002B2CF9AE}" pid="4" name="KSOTemplateUUID">
    <vt:lpwstr>v1.0_mb_XhNDLR8EZd3zD8bI3G2sWQ==</vt:lpwstr>
  </property>
  <property fmtid="{D5CDD505-2E9C-101B-9397-08002B2CF9AE}" pid="5" name="ICV">
    <vt:lpwstr>B5687B43AFCF4D5A8628A32E28488E81_11</vt:lpwstr>
  </property>
</Properties>
</file>
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0"/>
  </p:handoutMasterIdLst>
  <p:sldIdLst>
    <p:sldId id="338" r:id="rId3"/>
    <p:sldId id="362" r:id="rId5"/>
    <p:sldId id="370" r:id="rId6"/>
    <p:sldId id="437" r:id="rId7"/>
    <p:sldId id="436" r:id="rId8"/>
    <p:sldId id="446" r:id="rId9"/>
    <p:sldId id="438" r:id="rId10"/>
    <p:sldId id="439" r:id="rId11"/>
    <p:sldId id="440" r:id="rId12"/>
    <p:sldId id="441" r:id="rId13"/>
    <p:sldId id="442" r:id="rId14"/>
    <p:sldId id="443" r:id="rId15"/>
    <p:sldId id="445" r:id="rId16"/>
    <p:sldId id="447" r:id="rId17"/>
    <p:sldId id="458" r:id="rId18"/>
    <p:sldId id="452" r:id="rId19"/>
    <p:sldId id="453" r:id="rId20"/>
    <p:sldId id="454" r:id="rId21"/>
    <p:sldId id="455" r:id="rId22"/>
    <p:sldId id="456" r:id="rId23"/>
    <p:sldId id="457" r:id="rId24"/>
    <p:sldId id="460" r:id="rId25"/>
    <p:sldId id="461" r:id="rId26"/>
    <p:sldId id="462" r:id="rId27"/>
    <p:sldId id="463" r:id="rId28"/>
    <p:sldId id="448" r:id="rId29"/>
    <p:sldId id="450" r:id="rId30"/>
    <p:sldId id="449" r:id="rId31"/>
    <p:sldId id="451" r:id="rId32"/>
    <p:sldId id="465" r:id="rId33"/>
    <p:sldId id="467" r:id="rId34"/>
    <p:sldId id="466" r:id="rId35"/>
    <p:sldId id="468" r:id="rId36"/>
    <p:sldId id="474" r:id="rId37"/>
    <p:sldId id="476" r:id="rId38"/>
    <p:sldId id="475" r:id="rId39"/>
    <p:sldId id="477" r:id="rId40"/>
    <p:sldId id="469" r:id="rId41"/>
    <p:sldId id="464" r:id="rId42"/>
    <p:sldId id="471" r:id="rId43"/>
    <p:sldId id="478" r:id="rId44"/>
    <p:sldId id="479" r:id="rId45"/>
    <p:sldId id="480" r:id="rId46"/>
    <p:sldId id="481" r:id="rId47"/>
    <p:sldId id="482" r:id="rId48"/>
    <p:sldId id="483" r:id="rId49"/>
    <p:sldId id="484" r:id="rId50"/>
    <p:sldId id="485" r:id="rId51"/>
    <p:sldId id="470" r:id="rId52"/>
    <p:sldId id="486" r:id="rId53"/>
    <p:sldId id="487" r:id="rId54"/>
    <p:sldId id="488" r:id="rId55"/>
    <p:sldId id="496" r:id="rId56"/>
    <p:sldId id="472" r:id="rId57"/>
    <p:sldId id="498" r:id="rId58"/>
    <p:sldId id="497" r:id="rId59"/>
    <p:sldId id="473" r:id="rId60"/>
    <p:sldId id="489" r:id="rId61"/>
    <p:sldId id="490" r:id="rId62"/>
    <p:sldId id="491" r:id="rId63"/>
    <p:sldId id="492" r:id="rId64"/>
    <p:sldId id="493" r:id="rId65"/>
    <p:sldId id="494" r:id="rId66"/>
    <p:sldId id="495" r:id="rId67"/>
    <p:sldId id="371" r:id="rId68"/>
    <p:sldId id="354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878783"/>
    <a:srgbClr val="E0E0E0"/>
    <a:srgbClr val="FDFDFD"/>
    <a:srgbClr val="1C75BC"/>
    <a:srgbClr val="BCBEC0"/>
    <a:srgbClr val="1F6108"/>
    <a:srgbClr val="26700A"/>
    <a:srgbClr val="1A5A08"/>
    <a:srgbClr val="5B5B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94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330" y="384"/>
      </p:cViewPr>
      <p:guideLst>
        <p:guide orient="horz" pos="100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7908"/>
    </p:cViewPr>
  </p:sorterViewPr>
  <p:notesViewPr>
    <p:cSldViewPr snapToGrid="0">
      <p:cViewPr varScale="1">
        <p:scale>
          <a:sx n="83" d="100"/>
          <a:sy n="83" d="100"/>
        </p:scale>
        <p:origin x="382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4" Type="http://schemas.openxmlformats.org/officeDocument/2006/relationships/commentAuthors" Target="commentAuthors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CF35C-D8B4-40CD-AC4B-EB87F13805C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D243B-FFB1-446E-9114-40ACCD7DCC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604B2-0104-47E2-A454-F16A8221FE5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549D33-5D85-48A9-B874-2732B52B07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-01"/>
          <p:cNvPicPr>
            <a:picLocks noChangeAspect="1"/>
          </p:cNvPicPr>
          <p:nvPr userDrawn="1"/>
        </p:nvPicPr>
        <p:blipFill>
          <a:blip r:embed="rId2"/>
          <a:srcRect t="15612"/>
          <a:stretch>
            <a:fillRect/>
          </a:stretch>
        </p:blipFill>
        <p:spPr>
          <a:xfrm>
            <a:off x="-9525" y="-15875"/>
            <a:ext cx="12197080" cy="6864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\Users\Administrator\Desktop\2-01.png2-0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6985" y="-15875"/>
            <a:ext cx="10292080" cy="6864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2-01.png2-0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 flipH="1">
            <a:off x="1906905" y="-15875"/>
            <a:ext cx="10292080" cy="6864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 flipH="1">
            <a:off x="5913755" y="-1905"/>
            <a:ext cx="6274435" cy="4319905"/>
          </a:xfrm>
          <a:prstGeom prst="rect">
            <a:avLst/>
          </a:prstGeom>
        </p:spPr>
      </p:pic>
      <p:pic>
        <p:nvPicPr>
          <p:cNvPr id="5" name="图片 4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 flipV="1">
            <a:off x="-5080" y="2533015"/>
            <a:ext cx="6274435" cy="4319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>
            <a:off x="-5080" y="-635"/>
            <a:ext cx="6274435" cy="4319905"/>
          </a:xfrm>
          <a:prstGeom prst="rect">
            <a:avLst/>
          </a:prstGeom>
        </p:spPr>
      </p:pic>
      <p:pic>
        <p:nvPicPr>
          <p:cNvPr id="5" name="图片 4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 flipH="1" flipV="1">
            <a:off x="5908040" y="2533650"/>
            <a:ext cx="6274435" cy="4319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hyperlink" Target="https://chang-xinhai.github.io/Data-Structure-and-Algorithm-B-2026Spring-PKU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4.png"/><Relationship Id="rId2" Type="http://schemas.openxmlformats.org/officeDocument/2006/relationships/hyperlink" Target="https://www.cnblogs.com/MyStringIsNotNull/p/8279126.html" TargetMode="Externa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5.png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6.png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8.png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9.png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0.png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1.png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2.png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1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4.png"/><Relationship Id="rId1" Type="http://schemas.openxmlformats.org/officeDocument/2006/relationships/tags" Target="../tags/tag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5.png"/><Relationship Id="rId1" Type="http://schemas.openxmlformats.org/officeDocument/2006/relationships/tags" Target="../tags/tag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6.png"/><Relationship Id="rId1" Type="http://schemas.openxmlformats.org/officeDocument/2006/relationships/tags" Target="../tags/tag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0.png"/><Relationship Id="rId1" Type="http://schemas.openxmlformats.org/officeDocument/2006/relationships/tags" Target="../tags/tag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7.png"/><Relationship Id="rId1" Type="http://schemas.openxmlformats.org/officeDocument/2006/relationships/tags" Target="../tags/tag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8.png"/><Relationship Id="rId1" Type="http://schemas.openxmlformats.org/officeDocument/2006/relationships/tags" Target="../tags/tag2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22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tags" Target="../tags/tag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5.png"/><Relationship Id="rId1" Type="http://schemas.openxmlformats.org/officeDocument/2006/relationships/tags" Target="../tags/tag24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tags" Target="../tags/tag25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5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3.png"/><Relationship Id="rId4" Type="http://schemas.openxmlformats.org/officeDocument/2006/relationships/image" Target="../media/image34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26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tags" Target="../tags/tag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1.png"/><Relationship Id="rId1" Type="http://schemas.openxmlformats.org/officeDocument/2006/relationships/tags" Target="../tags/tag28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tags" Target="../tags/tag29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image" Target="../media/image14.png"/><Relationship Id="rId3" Type="http://schemas.openxmlformats.org/officeDocument/2006/relationships/hyperlink" Target="https://www.cnblogs.com/MyStringIsNotNull/p/8279126.html" TargetMode="External"/><Relationship Id="rId2" Type="http://schemas.openxmlformats.org/officeDocument/2006/relationships/image" Target="../media/image42.png"/><Relationship Id="rId1" Type="http://schemas.openxmlformats.org/officeDocument/2006/relationships/tags" Target="../tags/tag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6.png"/><Relationship Id="rId1" Type="http://schemas.openxmlformats.org/officeDocument/2006/relationships/tags" Target="../tags/tag31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5.png"/><Relationship Id="rId2" Type="http://schemas.openxmlformats.org/officeDocument/2006/relationships/image" Target="../media/image47.png"/><Relationship Id="rId1" Type="http://schemas.openxmlformats.org/officeDocument/2006/relationships/tags" Target="../tags/tag3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tags" Target="../tags/tag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0.png"/><Relationship Id="rId1" Type="http://schemas.openxmlformats.org/officeDocument/2006/relationships/tags" Target="../tags/tag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1.png"/><Relationship Id="rId1" Type="http://schemas.openxmlformats.org/officeDocument/2006/relationships/tags" Target="../tags/tag3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2.png"/><Relationship Id="rId1" Type="http://schemas.openxmlformats.org/officeDocument/2006/relationships/tags" Target="../tags/tag36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38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tags" Target="../tags/tag37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59.png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60.png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61.png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64.png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tags" Target="../tags/tag55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5.png"/><Relationship Id="rId1" Type="http://schemas.openxmlformats.org/officeDocument/2006/relationships/tags" Target="../tags/tag6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5.png"/><Relationship Id="rId1" Type="http://schemas.openxmlformats.org/officeDocument/2006/relationships/tags" Target="../tags/tag6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5.png"/><Relationship Id="rId1" Type="http://schemas.openxmlformats.org/officeDocument/2006/relationships/tags" Target="../tags/tag6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5.png"/><Relationship Id="rId1" Type="http://schemas.openxmlformats.org/officeDocument/2006/relationships/tags" Target="../tags/tag6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6.png"/><Relationship Id="rId1" Type="http://schemas.openxmlformats.org/officeDocument/2006/relationships/tags" Target="../tags/tag6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7.png"/><Relationship Id="rId1" Type="http://schemas.openxmlformats.org/officeDocument/2006/relationships/tags" Target="../tags/tag6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8.png"/><Relationship Id="rId1" Type="http://schemas.openxmlformats.org/officeDocument/2006/relationships/tags" Target="../tags/tag6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9.png"/><Relationship Id="rId1" Type="http://schemas.openxmlformats.org/officeDocument/2006/relationships/tags" Target="../tags/tag7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0.png"/><Relationship Id="rId1" Type="http://schemas.openxmlformats.org/officeDocument/2006/relationships/tags" Target="../tags/tag71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tags" Target="../tags/tag72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tags" Target="../tags/tag7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hyperlink" Target="https://www.luogu.com.cn/training/992193#problems&#13;" TargetMode="External"/><Relationship Id="rId1" Type="http://schemas.openxmlformats.org/officeDocument/2006/relationships/image" Target="../media/image8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hyperlink" Target="https://www.hello-algo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352107" y="1497217"/>
            <a:ext cx="12896215" cy="192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900" b="1" spc="600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charset="0"/>
                <a:ea typeface="方正仿宋_GB2312" panose="02000000000000000000" charset="-122"/>
                <a:cs typeface="Arial Black" panose="020B0A04020102020204" charset="0"/>
              </a:rPr>
              <a:t>PROGRAM</a:t>
            </a:r>
            <a:endParaRPr lang="en-US" sz="11900" b="1" spc="600" dirty="0" smtClean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ea typeface="方正仿宋_GB2312" panose="02000000000000000000" charset="-122"/>
              <a:cs typeface="Arial Black" panose="020B0A040201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5010" y="2306955"/>
            <a:ext cx="8232140" cy="19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95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DSA</a:t>
            </a:r>
            <a:r>
              <a:rPr lang="zh-CN" altLang="en-US" sz="1195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小班课</a:t>
            </a:r>
            <a:endParaRPr lang="zh-CN" altLang="en-US" sz="1195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Toots Regular" panose="02010600010101010101" charset="-122"/>
              <a:sym typeface="方正明尚简体" panose="020000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06626" y="4900941"/>
            <a:ext cx="4988364" cy="75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aseline="-25000" dirty="0" smtClean="0">
                <a:latin typeface="华文中宋" panose="02010600040101010101" charset="-122"/>
                <a:ea typeface="华文中宋" panose="02010600040101010101" charset="-122"/>
                <a:cs typeface="+mj-lt"/>
              </a:rPr>
              <a:t>常欣海</a:t>
            </a:r>
            <a:endParaRPr lang="zh-CN" altLang="en-US" sz="4400" baseline="-25000" dirty="0" smtClean="0">
              <a:latin typeface="华文中宋" panose="02010600040101010101" charset="-122"/>
              <a:ea typeface="华文中宋" panose="02010600040101010101" charset="-122"/>
              <a:cs typeface="+mj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48000" y="4237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3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hlinkClick r:id="rId1" action="ppaction://hlinkfile"/>
              </a:rPr>
              <a:t>DSA </a:t>
            </a:r>
            <a:r>
              <a:rPr lang="zh-CN" altLang="en-US" sz="3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hlinkClick r:id="rId1" action="ppaction://hlinkfile"/>
              </a:rPr>
              <a:t>课程网站</a:t>
            </a:r>
            <a:endParaRPr lang="zh-CN" altLang="en-US" sz="3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hlinkClick r:id="rId1" action="ppaction://hlinkfi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教学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计划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Course Syllabus</a:t>
              </a:r>
              <a:endParaRPr lang="en-US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400" y="2011680"/>
            <a:ext cx="8854440" cy="4652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352107" y="1018427"/>
            <a:ext cx="12896215" cy="192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900" b="1" spc="600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charset="0"/>
                <a:ea typeface="方正仿宋_GB2312" panose="02000000000000000000" charset="-122"/>
                <a:cs typeface="Arial Black" panose="020B0A04020102020204" charset="0"/>
              </a:rPr>
              <a:t>PROGRAM</a:t>
            </a:r>
            <a:endParaRPr lang="en-US" sz="11900" b="1" spc="600" dirty="0" smtClean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ea typeface="方正仿宋_GB2312" panose="02000000000000000000" charset="-122"/>
              <a:cs typeface="Arial Black" panose="020B0A040201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8220" y="1871345"/>
            <a:ext cx="1061720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L3 </a:t>
            </a:r>
            <a:r>
              <a:rPr lang="zh-CN" altLang="en-US" sz="8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排序、</a:t>
            </a:r>
            <a:endParaRPr lang="zh-CN" altLang="en-US" sz="880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Toots Regular" panose="02010600010101010101" charset="-122"/>
              <a:sym typeface="方正明尚简体" panose="02000000000000000000" charset="-122"/>
            </a:endParaRPr>
          </a:p>
          <a:p>
            <a:pPr algn="ctr"/>
            <a:r>
              <a:rPr lang="zh-CN" altLang="en-US" sz="8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树与检索</a:t>
            </a:r>
            <a:endParaRPr lang="zh-CN" altLang="en-US" sz="880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Toots Regular" panose="02010600010101010101" charset="-122"/>
              <a:sym typeface="方正明尚简体" panose="020000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06626" y="4576456"/>
            <a:ext cx="4988364" cy="11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400" baseline="-25000" dirty="0" smtClean="0">
                <a:latin typeface="华文中宋" panose="02010600040101010101" charset="-122"/>
                <a:ea typeface="华文中宋" panose="02010600040101010101" charset="-122"/>
                <a:cs typeface="+mj-lt"/>
              </a:rPr>
              <a:t>常欣海</a:t>
            </a:r>
            <a:endParaRPr lang="zh-CN" altLang="en-US" sz="4400" baseline="-25000" dirty="0" smtClean="0">
              <a:latin typeface="华文中宋" panose="02010600040101010101" charset="-122"/>
              <a:ea typeface="华文中宋" panose="02010600040101010101" charset="-122"/>
              <a:cs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400" baseline="-25000" dirty="0" smtClean="0">
                <a:latin typeface="华文中宋" panose="02010600040101010101" charset="-122"/>
                <a:ea typeface="华文中宋" panose="02010600040101010101" charset="-122"/>
                <a:cs typeface="+mj-lt"/>
              </a:rPr>
              <a:t>2026.05.16</a:t>
            </a:r>
            <a:endParaRPr lang="en-US" altLang="zh-CN" sz="4400" baseline="-25000" dirty="0" smtClean="0">
              <a:latin typeface="华文中宋" panose="02010600040101010101" charset="-122"/>
              <a:ea typeface="华文中宋" panose="02010600040101010101" charset="-122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5515" y="3937000"/>
            <a:ext cx="6208395" cy="230568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2" name="TextBox 7"/>
          <p:cNvSpPr txBox="1"/>
          <p:nvPr>
            <p:custDataLst>
              <p:tags r:id="rId2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315" y="1968500"/>
            <a:ext cx="9347200" cy="2057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810" y="4053205"/>
            <a:ext cx="2444115" cy="2021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894330" y="6102350"/>
            <a:ext cx="6588125" cy="60769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28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树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是为“层次化对象”设计的数据结构</a:t>
            </a:r>
            <a:endParaRPr lang="zh-CN" altLang="en-US" sz="240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例子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5" name="图片 4" descr="Unix_kaltainen_tiedostojarjestel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438400"/>
            <a:ext cx="1296670" cy="26746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-77470" y="5289550"/>
            <a:ext cx="24123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文件系统</a:t>
            </a:r>
            <a:endParaRPr lang="zh-CN" altLang="en-US" sz="20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675" y="2616835"/>
            <a:ext cx="7848600" cy="24961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521835" y="5289550"/>
            <a:ext cx="24123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en-US" altLang="zh-CN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AlphaGo MCTS</a:t>
            </a:r>
            <a:endParaRPr lang="en-US" altLang="zh-CN" sz="20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3" name="图片 12"/>
          <p:cNvPicPr/>
          <p:nvPr/>
        </p:nvPicPr>
        <p:blipFill>
          <a:blip r:embed="rId4"/>
          <a:stretch>
            <a:fillRect/>
          </a:stretch>
        </p:blipFill>
        <p:spPr>
          <a:xfrm>
            <a:off x="10015220" y="2616835"/>
            <a:ext cx="1824355" cy="249618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9779635" y="5289550"/>
            <a:ext cx="24123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动作预测</a:t>
            </a:r>
            <a:endParaRPr lang="zh-CN" altLang="en-US" sz="20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630805" y="5864860"/>
            <a:ext cx="6588125" cy="60769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28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树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是为“层次化对象”设计的数据结构</a:t>
            </a:r>
            <a:endParaRPr lang="zh-CN" altLang="en-US" sz="240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428355" y="1449070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树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vs </a:t>
            </a:r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图</a:t>
            </a:r>
            <a:endParaRPr lang="en-US" altLang="zh-CN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428355" y="1811020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因果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vs </a:t>
            </a:r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关联</a:t>
            </a:r>
            <a:endParaRPr lang="zh-CN" altLang="en-US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例子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84370" y="5431790"/>
            <a:ext cx="24123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en-US" altLang="zh-CN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NLP（</a:t>
            </a:r>
            <a:r>
              <a:rPr lang="en-US" altLang="zh-CN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LLMs）</a:t>
            </a:r>
            <a:endParaRPr lang="en-US" altLang="zh-CN" sz="20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630805" y="5864860"/>
            <a:ext cx="6588125" cy="60769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28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树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是为“层次化对象”设计的数据结构</a:t>
            </a:r>
            <a:endParaRPr lang="zh-CN" altLang="en-US" sz="240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428355" y="1449070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树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vs </a:t>
            </a:r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图</a:t>
            </a:r>
            <a:endParaRPr lang="en-US" altLang="zh-CN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428355" y="1811020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因果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vs </a:t>
            </a:r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关联</a:t>
            </a:r>
            <a:endParaRPr lang="zh-CN" altLang="en-US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" y="2893695"/>
            <a:ext cx="4972050" cy="18427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685" y="2446655"/>
            <a:ext cx="6005830" cy="2880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概念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185" y="2014855"/>
            <a:ext cx="9409430" cy="466344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8204835" y="1909445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如何相互转化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？</a:t>
            </a:r>
            <a:endParaRPr lang="en-US" altLang="zh-CN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428355" y="1449070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为什么研究二叉树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？</a:t>
            </a:r>
            <a:endParaRPr lang="en-US" altLang="zh-CN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概念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902970" y="2526030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为什么研究二叉树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？</a:t>
            </a:r>
            <a:endParaRPr lang="en-US" altLang="zh-CN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75790" y="2008505"/>
            <a:ext cx="8718550" cy="6076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0000"/>
              </a:lnSpc>
            </a:pP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树</a:t>
            </a:r>
            <a:r>
              <a:rPr lang="en-US" altLang="zh-CN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--- </a:t>
            </a: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二叉树</a:t>
            </a:r>
            <a:r>
              <a:rPr lang="en-US" altLang="zh-CN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--- </a:t>
            </a: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森林</a:t>
            </a:r>
            <a:endParaRPr lang="zh-CN" altLang="en-US" sz="2800" b="1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34795" y="3099435"/>
            <a:ext cx="483298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我们偏好研究二叉树，不只是因为它“分成两叉”，而是因为二叉树把</a:t>
            </a:r>
            <a:r>
              <a:rPr lang="zh-CN" altLang="en-US" sz="2400" b="1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复杂的层次关系统一编码为二元关系</a:t>
            </a:r>
            <a:r>
              <a:rPr lang="zh-CN" altLang="en-US" sz="2000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：左/右、是/否、小/大、0/1、长子/兄弟。它既契合计算机的</a:t>
            </a:r>
            <a:r>
              <a:rPr lang="zh-CN" altLang="en-US" sz="2800" b="1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二进制逻辑</a:t>
            </a:r>
            <a:r>
              <a:rPr lang="zh-CN" altLang="en-US" sz="2000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，又能作为一般树和森林的</a:t>
            </a:r>
            <a:r>
              <a:rPr lang="zh-CN" altLang="en-US" sz="2800" b="1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标准化表示</a:t>
            </a:r>
            <a:r>
              <a:rPr lang="zh-CN" altLang="en-US" sz="2000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。</a:t>
            </a:r>
            <a:endParaRPr lang="zh-CN" altLang="en-US" sz="2000">
              <a:solidFill>
                <a:schemeClr val="tx1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2656205"/>
            <a:ext cx="4615815" cy="4037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概念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875790" y="2008505"/>
            <a:ext cx="8718550" cy="6076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0000"/>
              </a:lnSpc>
            </a:pP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树</a:t>
            </a:r>
            <a:r>
              <a:rPr lang="en-US" altLang="zh-CN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--- </a:t>
            </a: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二叉树</a:t>
            </a:r>
            <a:r>
              <a:rPr lang="en-US" altLang="zh-CN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--- </a:t>
            </a: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森林</a:t>
            </a:r>
            <a:endParaRPr lang="zh-CN" altLang="en-US" sz="2800" b="1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5480" y="2616200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如何相互转化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？</a:t>
            </a:r>
            <a:endParaRPr lang="en-US" altLang="zh-CN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3" name="图片 2">
            <a:hlinkClick r:id="rId2" action="ppaction://hlinkfile"/>
          </p:cNvPr>
          <p:cNvPicPr/>
          <p:nvPr/>
        </p:nvPicPr>
        <p:blipFill>
          <a:blip r:embed="rId3"/>
          <a:srcRect l="13835" r="24676"/>
          <a:stretch>
            <a:fillRect/>
          </a:stretch>
        </p:blipFill>
        <p:spPr>
          <a:xfrm>
            <a:off x="4277995" y="2766695"/>
            <a:ext cx="5294630" cy="3799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59840" y="3338195"/>
            <a:ext cx="301815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2400" b="1" i="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“左孩/右兄”</a:t>
            </a:r>
            <a:endParaRPr lang="zh-CN" altLang="en-US" sz="2400" b="1" i="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0" indent="0" algn="ctr"/>
            <a:r>
              <a:rPr lang="zh-CN" altLang="en-US" sz="2400" b="1" i="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二叉链式存储结构</a:t>
            </a:r>
            <a:endParaRPr lang="zh-CN" altLang="en-US" sz="2400" b="1" i="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概念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75310" y="2254250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如何相互转化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？</a:t>
            </a:r>
            <a:endParaRPr lang="en-US" altLang="zh-CN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79775" y="2237740"/>
            <a:ext cx="30181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【</a:t>
            </a:r>
            <a:r>
              <a:rPr lang="zh-CN" altLang="en-US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树转换为二叉树</a:t>
            </a:r>
            <a:r>
              <a:rPr lang="en-US" altLang="zh-CN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】</a:t>
            </a:r>
            <a:endParaRPr lang="en-US" altLang="zh-CN" sz="2400" b="1" i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rcRect l="2090" t="-668" r="13602" b="3047"/>
          <a:stretch>
            <a:fillRect/>
          </a:stretch>
        </p:blipFill>
        <p:spPr>
          <a:xfrm>
            <a:off x="1558925" y="2698115"/>
            <a:ext cx="9303385" cy="40354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699885" y="2256155"/>
            <a:ext cx="544004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2400" b="1" i="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“左孩/右兄”二叉链式存储结构</a:t>
            </a:r>
            <a:endParaRPr lang="zh-CN" altLang="en-US" sz="2400" b="1" i="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概念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75310" y="2254250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如何相互转化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？</a:t>
            </a:r>
            <a:endParaRPr lang="en-US" altLang="zh-CN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79775" y="2237740"/>
            <a:ext cx="30181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【</a:t>
            </a:r>
            <a:r>
              <a:rPr lang="zh-CN" altLang="en-US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二叉树转换为树</a:t>
            </a:r>
            <a:r>
              <a:rPr lang="en-US" altLang="zh-CN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】</a:t>
            </a:r>
            <a:endParaRPr lang="en-US" altLang="zh-CN" sz="2400" b="1" i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885" y="2256155"/>
            <a:ext cx="544004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2400" b="1" i="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“左孩/右兄”二叉链式存储结构</a:t>
            </a:r>
            <a:endParaRPr lang="zh-CN" altLang="en-US" sz="2400" b="1" i="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rcRect b="25789"/>
          <a:stretch>
            <a:fillRect/>
          </a:stretch>
        </p:blipFill>
        <p:spPr>
          <a:xfrm>
            <a:off x="575310" y="2961005"/>
            <a:ext cx="11146155" cy="3662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概念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75310" y="2254250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如何相互转化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？</a:t>
            </a:r>
            <a:endParaRPr lang="en-US" altLang="zh-CN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79775" y="2237740"/>
            <a:ext cx="30181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【</a:t>
            </a:r>
            <a:r>
              <a:rPr lang="zh-CN" altLang="en-US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森林转换为</a:t>
            </a:r>
            <a:r>
              <a:rPr lang="zh-CN" altLang="en-US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二叉树</a:t>
            </a:r>
            <a:r>
              <a:rPr lang="en-US" altLang="zh-CN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】</a:t>
            </a:r>
            <a:endParaRPr lang="en-US" altLang="zh-CN" sz="2400" b="1" i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885" y="2256155"/>
            <a:ext cx="544004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2400" b="1" i="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“左孩/右兄”二叉链式存储结构</a:t>
            </a:r>
            <a:endParaRPr lang="zh-CN" altLang="en-US" sz="2400" b="1" i="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rcRect t="5743" r="9323"/>
          <a:stretch>
            <a:fillRect/>
          </a:stretch>
        </p:blipFill>
        <p:spPr>
          <a:xfrm>
            <a:off x="1875790" y="2698115"/>
            <a:ext cx="9391650" cy="40659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80160" y="2961005"/>
            <a:ext cx="51244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1.</a:t>
            </a:r>
            <a:endParaRPr lang="en-US" altLang="zh-CN" sz="2400" b="1" i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概念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75310" y="2254250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如何相互转化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？</a:t>
            </a:r>
            <a:endParaRPr lang="en-US" altLang="zh-CN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885" y="2256155"/>
            <a:ext cx="544004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2400" b="1" i="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“左孩/右兄”二叉链式存储结构</a:t>
            </a:r>
            <a:endParaRPr lang="zh-CN" altLang="en-US" sz="2400" b="1" i="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80160" y="2961005"/>
            <a:ext cx="51244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2.</a:t>
            </a:r>
            <a:endParaRPr lang="en-US" altLang="zh-CN" sz="2400" b="1" i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rcRect l="6581" r="9312" b="2468"/>
          <a:stretch>
            <a:fillRect/>
          </a:stretch>
        </p:blipFill>
        <p:spPr>
          <a:xfrm>
            <a:off x="2113915" y="2780030"/>
            <a:ext cx="8042275" cy="40779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79775" y="2237740"/>
            <a:ext cx="30181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【</a:t>
            </a:r>
            <a:r>
              <a:rPr lang="zh-CN" altLang="en-US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森林转换为</a:t>
            </a:r>
            <a:r>
              <a:rPr lang="zh-CN" altLang="en-US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二叉树</a:t>
            </a:r>
            <a:r>
              <a:rPr lang="en-US" altLang="zh-CN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】</a:t>
            </a:r>
            <a:endParaRPr lang="en-US" altLang="zh-CN" sz="2400" b="1" i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概念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75310" y="2254250"/>
            <a:ext cx="270446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如何相互转化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？</a:t>
            </a:r>
            <a:endParaRPr lang="en-US" altLang="zh-CN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79775" y="2237740"/>
            <a:ext cx="30181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zh-CN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【</a:t>
            </a:r>
            <a:r>
              <a:rPr lang="zh-CN" altLang="en-US" sz="2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二叉树</a:t>
            </a:r>
            <a:r>
              <a:rPr lang="zh-CN" altLang="en-US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转换为</a:t>
            </a:r>
            <a:r>
              <a:rPr lang="zh-CN" altLang="en-US" sz="24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森林</a:t>
            </a:r>
            <a:r>
              <a:rPr lang="en-US" altLang="zh-CN" sz="2400" b="1" i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】</a:t>
            </a:r>
            <a:endParaRPr lang="en-US" altLang="zh-CN" sz="2400" b="1" i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885" y="2256155"/>
            <a:ext cx="544004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2400" b="1" i="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“左孩/右兄”二叉链式存储结构</a:t>
            </a:r>
            <a:endParaRPr lang="zh-CN" altLang="en-US" sz="2400" b="1" i="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rcRect r="14699"/>
          <a:stretch>
            <a:fillRect/>
          </a:stretch>
        </p:blipFill>
        <p:spPr>
          <a:xfrm>
            <a:off x="2035810" y="2862580"/>
            <a:ext cx="7915910" cy="3995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91821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50" y="1976120"/>
            <a:ext cx="9637395" cy="46786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175500" y="1909445"/>
            <a:ext cx="455358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研究二叉树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</a:t>
            </a:r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就是在研究树结构</a:t>
            </a:r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本身</a:t>
            </a:r>
            <a:endParaRPr lang="zh-CN" altLang="en-US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基本术语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15" y="2026285"/>
            <a:ext cx="9704070" cy="4641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基本术语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655" y="1999615"/>
            <a:ext cx="9255125" cy="479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基本术语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930" y="1909445"/>
            <a:ext cx="6687820" cy="4763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基本术语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15" y="1997710"/>
            <a:ext cx="9106535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基本术语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890" y="1910080"/>
            <a:ext cx="8872220" cy="4853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基本术语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15" y="1981835"/>
            <a:ext cx="8503285" cy="4765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91821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50" y="1976120"/>
            <a:ext cx="9637395" cy="46786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175500" y="1909445"/>
            <a:ext cx="4553585" cy="36195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研究二叉树</a:t>
            </a:r>
            <a:r>
              <a:rPr lang="en-US" altLang="zh-CN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</a:t>
            </a:r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就是在研究树结构</a:t>
            </a:r>
            <a:r>
              <a:rPr lang="zh-CN" altLang="en-US" sz="2000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本身</a:t>
            </a:r>
            <a:endParaRPr lang="zh-CN" altLang="en-US" sz="2000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满二叉树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50" y="2016760"/>
            <a:ext cx="9773285" cy="4612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完全二叉树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25" y="2023110"/>
            <a:ext cx="9234805" cy="4761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扩充二叉树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什么是“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树”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30" y="1984375"/>
            <a:ext cx="8773160" cy="46158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885" y="2624455"/>
            <a:ext cx="4891405" cy="1709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057275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性质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性质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50" y="1765300"/>
            <a:ext cx="10039350" cy="12846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50" y="2886710"/>
            <a:ext cx="10134600" cy="137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650" y="4037330"/>
            <a:ext cx="10807700" cy="16383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650" y="5481955"/>
            <a:ext cx="9867900" cy="128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057275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性质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性质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850" y="1909445"/>
            <a:ext cx="10037445" cy="4875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概念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性质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" y="2178050"/>
            <a:ext cx="10528300" cy="12446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20" y="3234690"/>
            <a:ext cx="10896600" cy="16129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4730750"/>
            <a:ext cx="10566400" cy="177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概念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性质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61060" y="2042160"/>
            <a:ext cx="799274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A 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类性质：</a:t>
            </a:r>
            <a:r>
              <a:rPr lang="zh-CN" altLang="en-US" sz="20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容量上界类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——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回答“树最多能装多少？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效率如何</a:t>
            </a:r>
            <a:r>
              <a:rPr lang="en-US" altLang="zh-CN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？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”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9965" y="3921760"/>
            <a:ext cx="812101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B 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类性质：</a:t>
            </a:r>
            <a:r>
              <a:rPr lang="zh-CN" altLang="en-US" sz="20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结构守恒类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——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回答“叶子和分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支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节点有什么必然关系？”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9965" y="5708015"/>
            <a:ext cx="714438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C 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类性质：</a:t>
            </a:r>
            <a:r>
              <a:rPr lang="zh-CN" altLang="en-US" sz="20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完全二叉树</a:t>
            </a:r>
            <a:r>
              <a:rPr lang="zh-CN" altLang="en-US" sz="20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类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——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回答“如何不用指针也能存树？”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795" y="2694305"/>
            <a:ext cx="3536315" cy="4527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2708910"/>
            <a:ext cx="3569335" cy="4832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120" y="3211830"/>
            <a:ext cx="3475990" cy="4521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795" y="4528185"/>
            <a:ext cx="3978275" cy="6026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795" y="5184140"/>
            <a:ext cx="3978275" cy="47053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9090" y="5140960"/>
            <a:ext cx="3305810" cy="48958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2570" y="4917440"/>
            <a:ext cx="2814320" cy="1367155"/>
          </a:xfrm>
          <a:prstGeom prst="rect">
            <a:avLst/>
          </a:prstGeom>
        </p:spPr>
      </p:pic>
      <p:cxnSp>
        <p:nvCxnSpPr>
          <p:cNvPr id="20" name="直接箭头连接符 19"/>
          <p:cNvCxnSpPr/>
          <p:nvPr/>
        </p:nvCxnSpPr>
        <p:spPr>
          <a:xfrm>
            <a:off x="8247380" y="6034405"/>
            <a:ext cx="73469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0145" y="3241040"/>
            <a:ext cx="3655695" cy="615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遍历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操作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035810" y="2143125"/>
            <a:ext cx="2498725" cy="46037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广度优先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遍历</a:t>
            </a:r>
            <a:endParaRPr lang="zh-CN" altLang="en-US" sz="2400" b="1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62215" y="2143125"/>
            <a:ext cx="2498725" cy="46037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深度优先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遍历</a:t>
            </a:r>
            <a:endParaRPr lang="zh-CN" altLang="en-US" sz="2400" b="1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60" y="2989580"/>
            <a:ext cx="5382260" cy="258000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610" y="2656205"/>
            <a:ext cx="5825490" cy="3490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遍历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操作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79830" y="2143125"/>
            <a:ext cx="2498725" cy="46037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深度优先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遍历</a:t>
            </a:r>
            <a:endParaRPr lang="zh-CN" altLang="en-US" sz="2400" b="1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295" y="3662045"/>
            <a:ext cx="10036810" cy="24498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17115" y="2902585"/>
            <a:ext cx="77355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递归写法</a:t>
            </a:r>
            <a:r>
              <a:rPr lang="en-US" altLang="zh-CN" sz="240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、</a:t>
            </a:r>
            <a:r>
              <a:rPr lang="zh-CN" altLang="en-US" sz="240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非递归写法</a:t>
            </a:r>
            <a:r>
              <a:rPr lang="en-US" altLang="zh-CN" sz="240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、</a:t>
            </a:r>
            <a:r>
              <a:rPr lang="zh-CN" altLang="en-US" sz="240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序列与图的</a:t>
            </a:r>
            <a:r>
              <a:rPr lang="zh-CN" altLang="en-US" sz="240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相互转化</a:t>
            </a:r>
            <a:endParaRPr lang="zh-CN" altLang="en-US" sz="240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的存储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操作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/>
          <p:cNvPicPr/>
          <p:nvPr/>
        </p:nvPicPr>
        <p:blipFill>
          <a:blip r:embed="rId2"/>
          <a:srcRect l="1663" t="3922" r="27373" b="12034"/>
          <a:stretch>
            <a:fillRect/>
          </a:stretch>
        </p:blipFill>
        <p:spPr>
          <a:xfrm>
            <a:off x="447675" y="2628900"/>
            <a:ext cx="4989195" cy="292671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rcRect l="52997" t="2784" r="3611" b="19474"/>
          <a:stretch>
            <a:fillRect/>
          </a:stretch>
        </p:blipFill>
        <p:spPr>
          <a:xfrm>
            <a:off x="5242560" y="2693035"/>
            <a:ext cx="3599180" cy="27895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00170" y="2071370"/>
            <a:ext cx="45491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存储</a:t>
            </a:r>
            <a:r>
              <a:rPr lang="en-US" altLang="zh-CN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node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以及</a:t>
            </a:r>
            <a:r>
              <a:rPr lang="en-US" altLang="zh-CN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node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之间的关系</a:t>
            </a:r>
            <a:endParaRPr lang="zh-CN" altLang="en-US" sz="240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7" name="图片 6"/>
          <p:cNvPicPr/>
          <p:nvPr/>
        </p:nvPicPr>
        <p:blipFill>
          <a:blip r:embed="rId4"/>
          <a:srcRect l="49573" t="4140" b="12924"/>
          <a:stretch>
            <a:fillRect/>
          </a:stretch>
        </p:blipFill>
        <p:spPr>
          <a:xfrm>
            <a:off x="8684895" y="2693035"/>
            <a:ext cx="3298825" cy="28619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00425" y="5683885"/>
            <a:ext cx="24123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父指针</a:t>
            </a:r>
            <a:r>
              <a:rPr lang="zh-CN" altLang="en-US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表示</a:t>
            </a:r>
            <a:endParaRPr lang="zh-CN" altLang="en-US" sz="20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32145" y="5674995"/>
            <a:ext cx="24123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子</a:t>
            </a:r>
            <a:r>
              <a:rPr lang="zh-CN" altLang="en-US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表表示</a:t>
            </a:r>
            <a:endParaRPr lang="zh-CN" altLang="en-US" sz="20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58555" y="5683885"/>
            <a:ext cx="24123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父指针</a:t>
            </a:r>
            <a:r>
              <a:rPr lang="en-US" altLang="zh-CN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+</a:t>
            </a:r>
            <a:r>
              <a:rPr lang="zh-CN" altLang="en-US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子</a:t>
            </a:r>
            <a:r>
              <a:rPr lang="zh-CN" altLang="en-US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表表示</a:t>
            </a:r>
            <a:endParaRPr lang="zh-CN" altLang="en-US" sz="20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的存储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操作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/>
          <p:cNvPicPr/>
          <p:nvPr/>
        </p:nvPicPr>
        <p:blipFill>
          <a:blip r:embed="rId2"/>
          <a:srcRect l="1663" t="3922" r="56338" b="12034"/>
          <a:stretch>
            <a:fillRect/>
          </a:stretch>
        </p:blipFill>
        <p:spPr>
          <a:xfrm>
            <a:off x="447675" y="2628900"/>
            <a:ext cx="2952750" cy="29267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00170" y="2071370"/>
            <a:ext cx="45491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存储</a:t>
            </a:r>
            <a:r>
              <a:rPr lang="en-US" altLang="zh-CN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node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以及</a:t>
            </a:r>
            <a:r>
              <a:rPr lang="en-US" altLang="zh-CN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node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之间的关系</a:t>
            </a:r>
            <a:endParaRPr lang="zh-CN" altLang="en-US" sz="240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83630" y="6255385"/>
            <a:ext cx="24123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长子-兄弟表示</a:t>
            </a:r>
            <a:endParaRPr lang="zh-CN" altLang="en-US" sz="20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1" name="图片 10">
            <a:hlinkClick r:id="rId3" action="ppaction://hlinkfile"/>
          </p:cNvPr>
          <p:cNvPicPr/>
          <p:nvPr/>
        </p:nvPicPr>
        <p:blipFill>
          <a:blip r:embed="rId4"/>
          <a:srcRect l="13835" r="24676"/>
          <a:stretch>
            <a:fillRect/>
          </a:stretch>
        </p:blipFill>
        <p:spPr>
          <a:xfrm>
            <a:off x="4118610" y="2628900"/>
            <a:ext cx="6245860" cy="35090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995" y="1998345"/>
            <a:ext cx="3268345" cy="2024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83642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二叉树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的存储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操作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900170" y="2071370"/>
            <a:ext cx="45491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存储</a:t>
            </a:r>
            <a:r>
              <a:rPr lang="en-US" altLang="zh-CN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node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以及</a:t>
            </a:r>
            <a:r>
              <a:rPr lang="en-US" altLang="zh-CN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node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之间的关系</a:t>
            </a:r>
            <a:endParaRPr lang="zh-CN" altLang="en-US" sz="240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3650" y="2531745"/>
            <a:ext cx="14890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链式存储</a:t>
            </a:r>
            <a:endParaRPr lang="zh-CN" altLang="en-US" sz="2400" b="1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175" y="2620645"/>
            <a:ext cx="7380605" cy="3801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83642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二叉树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的存储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操作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900170" y="2071370"/>
            <a:ext cx="45491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存储</a:t>
            </a:r>
            <a:r>
              <a:rPr lang="en-US" altLang="zh-CN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node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以及</a:t>
            </a:r>
            <a:r>
              <a:rPr lang="en-US" altLang="zh-CN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node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之间的关系</a:t>
            </a:r>
            <a:endParaRPr lang="zh-CN" altLang="en-US" sz="240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3650" y="2531745"/>
            <a:ext cx="14890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顺序存储</a:t>
            </a:r>
            <a:endParaRPr lang="zh-CN" altLang="en-US" sz="2400" b="1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2693670"/>
            <a:ext cx="5588635" cy="35261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90" y="3538855"/>
            <a:ext cx="4574540" cy="2222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45275" y="6219825"/>
            <a:ext cx="3864610" cy="33718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spcAft>
                <a:spcPct val="60000"/>
              </a:spcAft>
              <a:buClrTx/>
              <a:buSzTx/>
              <a:buFontTx/>
            </a:pPr>
            <a:r>
              <a:rPr lang="zh-CN" altLang="en-US" sz="200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完美二叉树</a:t>
            </a:r>
            <a:endParaRPr lang="zh-CN" altLang="en-US" sz="200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83642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二叉树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的存储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操作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900170" y="2071370"/>
            <a:ext cx="45491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存储</a:t>
            </a:r>
            <a:r>
              <a:rPr lang="en-US" altLang="zh-CN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node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以及</a:t>
            </a:r>
            <a:r>
              <a:rPr lang="en-US" altLang="zh-CN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node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之间的关系</a:t>
            </a:r>
            <a:endParaRPr lang="zh-CN" altLang="en-US" sz="240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3650" y="2531745"/>
            <a:ext cx="14890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顺序存储</a:t>
            </a:r>
            <a:endParaRPr lang="zh-CN" altLang="en-US" sz="2400" b="1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810" y="2994660"/>
            <a:ext cx="4415155" cy="33642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680" y="3003550"/>
            <a:ext cx="4055110" cy="3359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584700" y="6358890"/>
            <a:ext cx="3864610" cy="398780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spcAft>
                <a:spcPct val="60000"/>
              </a:spcAft>
              <a:buClrTx/>
              <a:buSzTx/>
              <a:buFontTx/>
            </a:pPr>
            <a:r>
              <a:rPr lang="zh-CN" altLang="en-US" sz="200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任意二叉树</a:t>
            </a:r>
            <a:endParaRPr lang="zh-CN" altLang="en-US" sz="200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83642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二叉树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的存储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操作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900170" y="2071370"/>
            <a:ext cx="45491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存储</a:t>
            </a:r>
            <a:r>
              <a:rPr lang="en-US" altLang="zh-CN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node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以及</a:t>
            </a:r>
            <a:r>
              <a:rPr lang="en-US" altLang="zh-CN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node</a:t>
            </a:r>
            <a:r>
              <a:rPr lang="zh-CN" altLang="en-US" sz="2400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之间的关系</a:t>
            </a:r>
            <a:endParaRPr lang="zh-CN" altLang="en-US" sz="2400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3650" y="2531745"/>
            <a:ext cx="14890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顺序存储</a:t>
            </a:r>
            <a:endParaRPr lang="zh-CN" altLang="en-US" sz="2400" b="1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985" y="2609850"/>
            <a:ext cx="8121015" cy="36887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41190" y="6323965"/>
            <a:ext cx="3864610" cy="398780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spcAft>
                <a:spcPct val="60000"/>
              </a:spcAft>
              <a:buClrTx/>
              <a:buSzTx/>
              <a:buFontTx/>
            </a:pPr>
            <a:r>
              <a:rPr lang="zh-CN" altLang="en-US" sz="200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完全二叉树</a:t>
            </a:r>
            <a:endParaRPr lang="zh-CN" altLang="en-US" sz="200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83642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二叉树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的存储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操作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263650" y="2531745"/>
            <a:ext cx="14890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顺序存储</a:t>
            </a:r>
            <a:endParaRPr lang="zh-CN" altLang="en-US" sz="2400" b="1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85" y="1909445"/>
            <a:ext cx="6210935" cy="4766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核心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10" y="2837180"/>
            <a:ext cx="10775950" cy="34321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18210" y="2143125"/>
            <a:ext cx="10914380" cy="46037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特殊树结构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= 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基础树形结构 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+ 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额外不变量 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+ 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维护不变量的操作 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+ 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获得的效率</a:t>
            </a:r>
            <a:endParaRPr lang="zh-CN" altLang="en-US" sz="2400" b="1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二叉搜索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865" y="3677920"/>
            <a:ext cx="7590155" cy="9563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10" y="2300605"/>
            <a:ext cx="3564890" cy="3844925"/>
          </a:xfrm>
          <a:prstGeom prst="rect">
            <a:avLst/>
          </a:prstGeom>
        </p:spPr>
      </p:pic>
      <p:sp>
        <p:nvSpPr>
          <p:cNvPr id="7" name="TextBox 7"/>
          <p:cNvSpPr txBox="1"/>
          <p:nvPr>
            <p:custDataLst>
              <p:tags r:id="rId4"/>
            </p:custDataLst>
          </p:nvPr>
        </p:nvSpPr>
        <p:spPr>
          <a:xfrm>
            <a:off x="928243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二叉搜索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928243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查找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1995170"/>
            <a:ext cx="3931920" cy="45180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385" y="2132965"/>
            <a:ext cx="4953000" cy="4241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二叉搜索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928243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插入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655" y="2023745"/>
            <a:ext cx="6988810" cy="44183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595" y="2165350"/>
            <a:ext cx="2249805" cy="4134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二叉搜索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928243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删除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745" y="1909445"/>
            <a:ext cx="8122920" cy="48126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63650" y="2531745"/>
            <a:ext cx="7721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d=0</a:t>
            </a:r>
            <a:endParaRPr lang="en-US" altLang="zh-CN" sz="2400" b="1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二叉搜索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928243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删除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810" y="1909445"/>
            <a:ext cx="7971790" cy="48444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63650" y="2531745"/>
            <a:ext cx="7721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d=1</a:t>
            </a:r>
            <a:endParaRPr lang="en-US" altLang="zh-CN" sz="2400" b="1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二叉搜索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928243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删除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225" y="1909445"/>
            <a:ext cx="8902700" cy="4546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63650" y="2531745"/>
            <a:ext cx="7721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d=2</a:t>
            </a:r>
            <a:endParaRPr lang="en-US" altLang="zh-CN" sz="2400" b="1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二叉搜索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928243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效率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分析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15" y="3084195"/>
            <a:ext cx="3165475" cy="19850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695" y="2127885"/>
            <a:ext cx="7004685" cy="4156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二叉搜索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9282430" y="1449070"/>
            <a:ext cx="183896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AVL-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旋转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操作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660" y="2115820"/>
            <a:ext cx="9193530" cy="4474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二叉搜索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9282430" y="1449070"/>
            <a:ext cx="183896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AVL-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旋转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操作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25" y="2860040"/>
            <a:ext cx="5012690" cy="2768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640" y="2051685"/>
            <a:ext cx="4768215" cy="4525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30607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98165" y="1765300"/>
            <a:ext cx="680910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堆（</a:t>
            </a:r>
            <a:r>
              <a:rPr lang="zh-CN" altLang="en-US" sz="28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heap</a:t>
            </a:r>
            <a:r>
              <a:rPr lang="zh-CN" altLang="en-US" sz="28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）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是一种满足特定条件的完全二叉树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" y="2781300"/>
            <a:ext cx="6040120" cy="36029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965" y="3246755"/>
            <a:ext cx="4988560" cy="2569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30607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9282430" y="1449070"/>
            <a:ext cx="61087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存储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2407920"/>
            <a:ext cx="6963410" cy="39090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465" y="2931160"/>
            <a:ext cx="3246120" cy="245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30607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9282430" y="1449070"/>
            <a:ext cx="12217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元素入堆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40" y="2240915"/>
            <a:ext cx="6941820" cy="40316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3175" y="2566670"/>
            <a:ext cx="4264025" cy="3380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30607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9282430" y="1449070"/>
            <a:ext cx="12217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元素出堆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70" y="2325370"/>
            <a:ext cx="6912610" cy="38633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855" y="2162810"/>
            <a:ext cx="4191635" cy="4191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38176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Huffman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 descr="ChatGPT Image 2026年5月23日 10_11_35"/>
          <p:cNvPicPr>
            <a:picLocks noChangeAspect="1"/>
          </p:cNvPicPr>
          <p:nvPr/>
        </p:nvPicPr>
        <p:blipFill>
          <a:blip r:embed="rId2"/>
          <a:srcRect t="47648" r="42272" b="11259"/>
          <a:stretch>
            <a:fillRect/>
          </a:stretch>
        </p:blipFill>
        <p:spPr>
          <a:xfrm>
            <a:off x="1794510" y="2075180"/>
            <a:ext cx="8999220" cy="4271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38176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Huffman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 descr="ChatGPT Image 2026年5月23日 10_11_35"/>
          <p:cNvPicPr>
            <a:picLocks noChangeAspect="1"/>
          </p:cNvPicPr>
          <p:nvPr/>
        </p:nvPicPr>
        <p:blipFill>
          <a:blip r:embed="rId2"/>
          <a:srcRect t="5769" r="38045" b="52352"/>
          <a:stretch>
            <a:fillRect/>
          </a:stretch>
        </p:blipFill>
        <p:spPr>
          <a:xfrm>
            <a:off x="1846580" y="2165985"/>
            <a:ext cx="9027795" cy="4068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38176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Huffman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 descr="ChatGPT Image 2026年5月23日 10_11_35"/>
          <p:cNvPicPr>
            <a:picLocks noChangeAspect="1"/>
          </p:cNvPicPr>
          <p:nvPr/>
        </p:nvPicPr>
        <p:blipFill>
          <a:blip r:embed="rId2"/>
          <a:srcRect l="45590" t="5769" b="52352"/>
          <a:stretch>
            <a:fillRect/>
          </a:stretch>
        </p:blipFill>
        <p:spPr>
          <a:xfrm>
            <a:off x="2234565" y="2144395"/>
            <a:ext cx="7920990" cy="4064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38176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Huffman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树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 descr="ChatGPT Image 2026年5月23日 10_11_35"/>
          <p:cNvPicPr>
            <a:picLocks noChangeAspect="1"/>
          </p:cNvPicPr>
          <p:nvPr/>
        </p:nvPicPr>
        <p:blipFill>
          <a:blip r:embed="rId2"/>
          <a:srcRect l="57728" t="47648" b="11259"/>
          <a:stretch>
            <a:fillRect/>
          </a:stretch>
        </p:blipFill>
        <p:spPr>
          <a:xfrm>
            <a:off x="791210" y="2259965"/>
            <a:ext cx="5694680" cy="3691255"/>
          </a:xfrm>
          <a:prstGeom prst="rect">
            <a:avLst/>
          </a:prstGeom>
        </p:spPr>
      </p:pic>
      <p:pic>
        <p:nvPicPr>
          <p:cNvPr id="5" name="图片 4" descr="ChatGPT Image 2026年5月23日 10_11_35"/>
          <p:cNvPicPr>
            <a:picLocks noChangeAspect="1"/>
          </p:cNvPicPr>
          <p:nvPr/>
        </p:nvPicPr>
        <p:blipFill>
          <a:blip r:embed="rId2"/>
          <a:srcRect l="45802" t="87898"/>
          <a:stretch>
            <a:fillRect/>
          </a:stretch>
        </p:blipFill>
        <p:spPr>
          <a:xfrm>
            <a:off x="6515100" y="4191000"/>
            <a:ext cx="5575300" cy="829945"/>
          </a:xfrm>
          <a:prstGeom prst="rect">
            <a:avLst/>
          </a:prstGeom>
        </p:spPr>
      </p:pic>
      <p:pic>
        <p:nvPicPr>
          <p:cNvPr id="6" name="图片 5" descr="ChatGPT Image 2026年5月23日 10_11_35"/>
          <p:cNvPicPr>
            <a:picLocks noChangeAspect="1"/>
          </p:cNvPicPr>
          <p:nvPr/>
        </p:nvPicPr>
        <p:blipFill>
          <a:blip r:embed="rId2"/>
          <a:srcRect t="87898" r="54148"/>
          <a:stretch>
            <a:fillRect/>
          </a:stretch>
        </p:blipFill>
        <p:spPr>
          <a:xfrm>
            <a:off x="6915150" y="3244215"/>
            <a:ext cx="4716780" cy="829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91821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并查集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768475" y="2009140"/>
            <a:ext cx="954913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并查集（</a:t>
            </a:r>
            <a:r>
              <a:rPr lang="zh-CN" altLang="en-US" sz="28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Union Find</a:t>
            </a:r>
            <a:r>
              <a:rPr lang="zh-CN" altLang="en-US" sz="28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）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：一种高效的数据结构，常用于处理若干不相交集合（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Disjoint Sets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）的合并与查询操作。不相交集合指的是元素互不重叠的集合族。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并查集主要支持两类核心操作：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-</a:t>
            </a:r>
            <a:r>
              <a:rPr lang="en-US" altLang="zh-CN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 </a:t>
            </a:r>
            <a:r>
              <a:rPr lang="zh-CN" altLang="en-US" sz="20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合并（</a:t>
            </a:r>
            <a:r>
              <a:rPr lang="zh-CN" altLang="en-US" sz="20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Union</a:t>
            </a:r>
            <a:r>
              <a:rPr lang="zh-CN" altLang="en-US" sz="20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）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：将两个不同的集合合并为一个集合。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-</a:t>
            </a:r>
            <a:r>
              <a:rPr lang="en-US" altLang="zh-CN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 </a:t>
            </a:r>
            <a:r>
              <a:rPr lang="zh-CN" altLang="en-US" sz="20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查找（</a:t>
            </a:r>
            <a:r>
              <a:rPr lang="zh-CN" altLang="en-US" sz="20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Find</a:t>
            </a:r>
            <a:r>
              <a:rPr lang="zh-CN" altLang="en-US" sz="20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）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：确定某个元素属于哪个集合，通常返回该集合的「代表元素」。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91821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并查集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201660" y="1597343"/>
            <a:ext cx="3564890" cy="39878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0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「快速查询」</a:t>
            </a:r>
            <a:r>
              <a:rPr lang="zh-CN" altLang="en-US" sz="20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——</a:t>
            </a:r>
            <a:r>
              <a:rPr lang="zh-CN" altLang="en-US" sz="20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基于数组结构</a:t>
            </a:r>
            <a:endParaRPr lang="zh-CN" altLang="en-US" sz="20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945" y="2043430"/>
            <a:ext cx="8992870" cy="4708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91821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并查集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201660" y="1597343"/>
            <a:ext cx="3564890" cy="39878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0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「快速合并」——基于森林结构</a:t>
            </a:r>
            <a:endParaRPr lang="zh-CN" altLang="en-US" sz="20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885" y="2040890"/>
            <a:ext cx="7974965" cy="47491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91821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并查集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201660" y="1597343"/>
            <a:ext cx="3564890" cy="39878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0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「快速合并」——基于森林结构</a:t>
            </a:r>
            <a:endParaRPr lang="zh-CN" altLang="en-US" sz="20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015" y="2052320"/>
            <a:ext cx="8653780" cy="4589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91821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并查集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201660" y="1597343"/>
            <a:ext cx="3564890" cy="39878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0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「快速合并」——基于森林结构</a:t>
            </a:r>
            <a:endParaRPr lang="zh-CN" altLang="en-US" sz="20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810" y="2101215"/>
            <a:ext cx="8545195" cy="44875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91821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并查集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201660" y="1597343"/>
            <a:ext cx="3564890" cy="39878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0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「快速合并」——基于森林结构</a:t>
            </a:r>
            <a:endParaRPr lang="zh-CN" altLang="en-US" sz="20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810" y="2052955"/>
            <a:ext cx="8004810" cy="4678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91821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并查集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201660" y="1597343"/>
            <a:ext cx="3564890" cy="39878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0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「快速合并」——基于森林结构</a:t>
            </a:r>
            <a:endParaRPr lang="zh-CN" altLang="en-US" sz="20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20190" y="1996440"/>
            <a:ext cx="2498725" cy="46037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路径压缩</a:t>
            </a:r>
            <a:endParaRPr lang="zh-CN" altLang="en-US" sz="2400" b="1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3469640" y="2456815"/>
            <a:ext cx="6102985" cy="25882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805" y="5260340"/>
            <a:ext cx="7747000" cy="134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91821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并查集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5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6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“树”的</a:t>
              </a:r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应用</a:t>
              </a:r>
              <a:endParaRPr lang="zh-CN" altLang="en-US" sz="4800" b="1" spc="600" dirty="0" smtClean="0"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7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Tree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201660" y="1597343"/>
            <a:ext cx="3564890" cy="39878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0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「快速合并」——基于森林结构</a:t>
            </a:r>
            <a:endParaRPr lang="zh-CN" altLang="en-US" sz="20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20190" y="1996440"/>
            <a:ext cx="2498725" cy="46037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按秩</a:t>
            </a:r>
            <a:r>
              <a:rPr lang="zh-CN" altLang="en-US" sz="24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合并</a:t>
            </a:r>
            <a:endParaRPr lang="zh-CN" altLang="en-US" sz="2400" b="1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rcRect r="44694"/>
          <a:stretch>
            <a:fillRect/>
          </a:stretch>
        </p:blipFill>
        <p:spPr>
          <a:xfrm>
            <a:off x="520065" y="2456815"/>
            <a:ext cx="4189730" cy="249047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  <a:srcRect l="55725" r="25"/>
          <a:stretch>
            <a:fillRect/>
          </a:stretch>
        </p:blipFill>
        <p:spPr>
          <a:xfrm>
            <a:off x="2477135" y="4040505"/>
            <a:ext cx="3352165" cy="24904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065" y="2674620"/>
            <a:ext cx="6219190" cy="2678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习题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Practice</a:t>
              </a:r>
              <a:endParaRPr lang="en-US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0805" y="2125345"/>
            <a:ext cx="7077075" cy="38011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089910" y="60585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>
                <a:latin typeface="华文仿宋" panose="02010600040101010101" charset="-122"/>
                <a:ea typeface="华文仿宋" panose="02010600040101010101" charset="-122"/>
                <a:hlinkClick r:id="rId2" action="ppaction://hlinkfile"/>
              </a:rPr>
              <a:t>L2 Practice</a:t>
            </a:r>
            <a:endParaRPr lang="en-US" altLang="zh-CN" sz="2400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/>
          <p:cNvSpPr txBox="1"/>
          <p:nvPr/>
        </p:nvSpPr>
        <p:spPr>
          <a:xfrm>
            <a:off x="-352107" y="1497217"/>
            <a:ext cx="12896215" cy="192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900" b="1" spc="600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charset="0"/>
                <a:ea typeface="方正仿宋_GB2312" panose="02000000000000000000" charset="-122"/>
                <a:cs typeface="Arial Black" panose="020B0A04020102020204" charset="0"/>
              </a:rPr>
              <a:t>PROGRAM</a:t>
            </a:r>
            <a:endParaRPr lang="en-US" sz="11900" b="1" spc="600" dirty="0" smtClean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ea typeface="方正仿宋_GB2312" panose="02000000000000000000" charset="-122"/>
              <a:cs typeface="Arial Black" panose="020B0A040201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30577" y="2306842"/>
            <a:ext cx="6941730" cy="19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95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Q&amp;A</a:t>
            </a:r>
            <a:endParaRPr lang="en-US" altLang="zh-CN" sz="1195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Toots Regular" panose="02010600010101010101" charset="-122"/>
              <a:sym typeface="方正明尚简体" panose="020000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07261" y="3770641"/>
            <a:ext cx="4988364" cy="631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aseline="-25000" dirty="0" smtClean="0">
                <a:latin typeface="Futura" panose="020B0602020204020303" charset="0"/>
                <a:ea typeface="Futura" panose="020B0602020204020303" charset="0"/>
                <a:cs typeface="+mj-lt"/>
              </a:rPr>
              <a:t>Q&amp;A</a:t>
            </a:r>
            <a:endParaRPr lang="en-US" sz="3600" baseline="-25000" dirty="0" smtClean="0">
              <a:latin typeface="Futura" panose="020B0602020204020303" charset="0"/>
              <a:ea typeface="Futura" panose="020B0602020204020303" charset="0"/>
              <a:cs typeface="+mj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28225" y="6118225"/>
            <a:ext cx="1958975" cy="396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000" i="1">
                <a:solidFill>
                  <a:schemeClr val="bg1">
                    <a:lumMod val="50000"/>
                  </a:schemeClr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hlinkClick r:id="rId1" action="ppaction://hlinkfile"/>
              </a:rPr>
              <a:t>Hello </a:t>
            </a:r>
            <a:r>
              <a:rPr lang="zh-CN" altLang="en-US" sz="2000" i="1">
                <a:solidFill>
                  <a:schemeClr val="bg1">
                    <a:lumMod val="50000"/>
                  </a:schemeClr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hlinkClick r:id="rId1" action="ppaction://hlinkfile"/>
              </a:rPr>
              <a:t>算法</a:t>
            </a:r>
            <a:endParaRPr lang="zh-CN" altLang="en-US" sz="2000" i="1">
              <a:solidFill>
                <a:schemeClr val="bg1">
                  <a:lumMod val="50000"/>
                </a:schemeClr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7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8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9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0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1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4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5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6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7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8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9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0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1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4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5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6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7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8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9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0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1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4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5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6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7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8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9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0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1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4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5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6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7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8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9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0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1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4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5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6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7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8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9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0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1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4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5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6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7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8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9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70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71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7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7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heme/theme1.xml><?xml version="1.0" encoding="utf-8"?>
<a:theme xmlns:a="http://schemas.openxmlformats.org/drawingml/2006/main" name="Office Theme 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2543</Words>
  <Application>WPS 演示</Application>
  <PresentationFormat>Widescreen</PresentationFormat>
  <Paragraphs>710</Paragraphs>
  <Slides>66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93" baseType="lpstr">
      <vt:lpstr>Arial</vt:lpstr>
      <vt:lpstr>宋体</vt:lpstr>
      <vt:lpstr>Wingdings</vt:lpstr>
      <vt:lpstr>Arial Black</vt:lpstr>
      <vt:lpstr>方正仿宋_GB2312</vt:lpstr>
      <vt:lpstr>方正明尚简体</vt:lpstr>
      <vt:lpstr>Toots Regular</vt:lpstr>
      <vt:lpstr>华文中宋</vt:lpstr>
      <vt:lpstr>华文仿宋</vt:lpstr>
      <vt:lpstr>Futura</vt:lpstr>
      <vt:lpstr>黑体</vt:lpstr>
      <vt:lpstr>汉仪中黑KW</vt:lpstr>
      <vt:lpstr>Arial</vt:lpstr>
      <vt:lpstr>华文楷体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Calibri Light</vt:lpstr>
      <vt:lpstr>黑体</vt:lpstr>
      <vt:lpstr>-apple-system</vt:lpstr>
      <vt:lpstr>Thonburi</vt:lpstr>
      <vt:lpstr>Inter</vt:lpstr>
      <vt:lpstr>Office Theme 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pt1</dc:creator>
  <cp:lastModifiedBy>walker</cp:lastModifiedBy>
  <cp:revision>902</cp:revision>
  <dcterms:created xsi:type="dcterms:W3CDTF">2026-05-23T02:20:58Z</dcterms:created>
  <dcterms:modified xsi:type="dcterms:W3CDTF">2026-05-23T02:20:58Z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KSORubyTemplateID">
    <vt:lpwstr>13</vt:lpwstr>
  </property>
  <property fmtid="{D5CDD505-2E9C-101B-9397-08002B2CF9AE}" pid="4" name="KSOTemplateUUID">
    <vt:lpwstr>v1.0_mb_XhNDLR8EZd3zD8bI3G2sWQ==</vt:lpwstr>
  </property>
  <property fmtid="{D5CDD505-2E9C-101B-9397-08002B2CF9AE}" pid="5" name="ICV">
    <vt:lpwstr>B5687B43AFCF4D5A8628A32E28488E81_11</vt:lpwstr>
  </property>
</Properties>
</file>